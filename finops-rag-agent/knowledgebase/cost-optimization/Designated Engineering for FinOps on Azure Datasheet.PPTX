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134805688" r:id="rId5"/>
  </p:sldIdLst>
  <p:sldSz cx="6858000" cy="9144000" type="letter"/>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7115B01-6EB2-C930-181C-DE009F478B51}" name="Justin Padley" initials="JP" userId="S::Justin@audienz.com::978645c5-a9de-4e27-ba47-c149af5c21ac" providerId="AD"/>
  <p188:author id="{5C2B7704-47AB-82F2-CA8E-AECF409E9910}" name="Nancy Lanning (AG Consulting Partners, Inc.)" initials="" userId="S::v-nalanning@microsoft.com::49b72017-b8cc-4953-84cc-93003fd3df30" providerId="AD"/>
  <p188:author id="{4AA2690C-DAF2-FE5F-D13F-42FF3D10F374}" name="Brianna Farah" initials="BF" userId="S::brianna@audienz.com::f1856917-c2d4-49a7-94e9-7f0e47fabbfc" providerId="AD"/>
  <p188:author id="{2BFE010E-D8E5-FED5-94D5-1F81B4A954C4}" name="Tessa Berkley" initials="TB" userId="S::TessaB@audienz.com::29198474-64f9-4b67-b7f5-57f0013c6244" providerId="AD"/>
  <p188:author id="{D0D78C15-803C-FD80-171B-701FEA31D5F9}" name="Tessa Berkley" initials="TB" userId="S::TessaB@thechannelcompany.com::29198474-64f9-4b67-b7f5-57f0013c6244" providerId="AD"/>
  <p188:author id="{667E3E1D-485B-9619-E2CC-A1B7C75579EB}" name="Michelle Godfrey" initials="MG" userId="S::migodfrey@microsoft.com::453ebc76-59ff-4f1f-9b60-ca99fbce125c" providerId="AD"/>
  <p188:author id="{33AB6034-CB6F-2062-1CF2-E5A3E36603AC}" name="Matias Rama" initials="MR" userId="S::matrs@microsoft.com::bdb996b8-8278-412a-926d-fa225ff77c33" providerId="AD"/>
  <p188:author id="{D0B61BBC-A39B-DC58-8843-9E76081BB74F}" name="Madhav Lakshminarayanan (MADDY)" initials="M(" userId="S::madhavl@microsoft.com::ac2c79f7-70ed-4da4-9d06-c8c9a5b93de2" providerId="AD"/>
  <p188:author id="{97B453E8-C020-2AB3-8C20-3EF7E1A9B6A4}" name="Godwin de Jong" initials="GJ" userId="S::godejo@microsoft.com::b36b8817-4f42-4574-a8ea-025ab6eb1d30" providerId="AD"/>
  <p188:author id="{DCD52DF2-28D1-AAFD-E97B-F31767DE2FE5}" name="Dirk Brinkmann" initials="DB" userId="S::dirkbri@microsoft.com::eb97a6f5-643d-4ec6-b03c-b731dcb8cb2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DB045-2757-4FAB-BCB8-AC2A47E00C93}" v="1" dt="2023-08-14T06:39:17.342"/>
    <p1510:client id="{55D60CF9-56E3-4411-906B-407423FD490F}" v="1" dt="2023-08-14T22:48:46.881"/>
    <p1510:client id="{DAA94F23-2938-7E9C-AB1B-EB343506AC8C}" v="14" dt="2023-08-14T20:01:38.3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alie Perillo (BRIDGE PARTNERS LLC)" userId="S::v-nperillo@microsoft.com::84fa2f8a-39f0-4eff-8eb1-c5cae901ab2a" providerId="AD" clId="Web-{DAA94F23-2938-7E9C-AB1B-EB343506AC8C}"/>
    <pc:docChg chg="modSld">
      <pc:chgData name="Natalie Perillo (BRIDGE PARTNERS LLC)" userId="S::v-nperillo@microsoft.com::84fa2f8a-39f0-4eff-8eb1-c5cae901ab2a" providerId="AD" clId="Web-{DAA94F23-2938-7E9C-AB1B-EB343506AC8C}" dt="2023-08-14T20:01:38.077" v="10" actId="20577"/>
      <pc:docMkLst>
        <pc:docMk/>
      </pc:docMkLst>
      <pc:sldChg chg="modSp">
        <pc:chgData name="Natalie Perillo (BRIDGE PARTNERS LLC)" userId="S::v-nperillo@microsoft.com::84fa2f8a-39f0-4eff-8eb1-c5cae901ab2a" providerId="AD" clId="Web-{DAA94F23-2938-7E9C-AB1B-EB343506AC8C}" dt="2023-08-14T20:01:38.077" v="10" actId="20577"/>
        <pc:sldMkLst>
          <pc:docMk/>
          <pc:sldMk cId="988437756" sldId="2134805688"/>
        </pc:sldMkLst>
        <pc:spChg chg="mod">
          <ac:chgData name="Natalie Perillo (BRIDGE PARTNERS LLC)" userId="S::v-nperillo@microsoft.com::84fa2f8a-39f0-4eff-8eb1-c5cae901ab2a" providerId="AD" clId="Web-{DAA94F23-2938-7E9C-AB1B-EB343506AC8C}" dt="2023-08-14T20:01:38.077" v="10" actId="20577"/>
          <ac:spMkLst>
            <pc:docMk/>
            <pc:sldMk cId="988437756" sldId="2134805688"/>
            <ac:spMk id="31" creationId="{05B5FBD9-5D92-44D5-EF0F-8080E4DE375C}"/>
          </ac:spMkLst>
        </pc:spChg>
        <pc:spChg chg="mod">
          <ac:chgData name="Natalie Perillo (BRIDGE PARTNERS LLC)" userId="S::v-nperillo@microsoft.com::84fa2f8a-39f0-4eff-8eb1-c5cae901ab2a" providerId="AD" clId="Web-{DAA94F23-2938-7E9C-AB1B-EB343506AC8C}" dt="2023-08-14T20:01:25.263" v="6" actId="20577"/>
          <ac:spMkLst>
            <pc:docMk/>
            <pc:sldMk cId="988437756" sldId="2134805688"/>
            <ac:spMk id="32" creationId="{DEB1C9BA-914B-0782-4147-48B4D02F7401}"/>
          </ac:spMkLst>
        </pc:spChg>
      </pc:sldChg>
    </pc:docChg>
  </pc:docChgLst>
  <pc:docChgLst>
    <pc:chgData name="Michelle Godfrey" userId="453ebc76-59ff-4f1f-9b60-ca99fbce125c" providerId="ADAL" clId="{55D60CF9-56E3-4411-906B-407423FD490F}"/>
    <pc:docChg chg="mod">
      <pc:chgData name="Michelle Godfrey" userId="453ebc76-59ff-4f1f-9b60-ca99fbce125c" providerId="ADAL" clId="{55D60CF9-56E3-4411-906B-407423FD490F}" dt="2023-08-14T22:48:46.881" v="0"/>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A03C96-45E0-4974-8058-B09AEF7B7320}" type="datetimeFigureOut">
              <a:rPr lang="en-US" smtClean="0"/>
              <a:t>8/14/2023</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C6A3CA-6C34-4C3A-93E8-2D6C8D4302C4}" type="slidenum">
              <a:rPr lang="en-US" smtClean="0"/>
              <a:t>‹#›</a:t>
            </a:fld>
            <a:endParaRPr lang="en-US"/>
          </a:p>
        </p:txBody>
      </p:sp>
    </p:spTree>
    <p:extLst>
      <p:ext uri="{BB962C8B-B14F-4D97-AF65-F5344CB8AC3E}">
        <p14:creationId xmlns:p14="http://schemas.microsoft.com/office/powerpoint/2010/main" val="336831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a:p>
        </p:txBody>
      </p:sp>
      <p:sp>
        <p:nvSpPr>
          <p:cNvPr id="4" name="Slide Number Placeholder 3"/>
          <p:cNvSpPr>
            <a:spLocks noGrp="1"/>
          </p:cNvSpPr>
          <p:nvPr>
            <p:ph type="sldNum" sz="quarter" idx="5"/>
          </p:nvPr>
        </p:nvSpPr>
        <p:spPr/>
        <p:txBody>
          <a:bodyPr/>
          <a:lstStyle/>
          <a:p>
            <a:pPr marL="0" marR="0" lvl="0" indent="0" algn="r" defTabSz="471145" rtl="0" eaLnBrk="1" fontAlgn="auto" latinLnBrk="0" hangingPunct="1">
              <a:lnSpc>
                <a:spcPct val="100000"/>
              </a:lnSpc>
              <a:spcBef>
                <a:spcPts val="0"/>
              </a:spcBef>
              <a:spcAft>
                <a:spcPts val="0"/>
              </a:spcAft>
              <a:buClrTx/>
              <a:buSzTx/>
              <a:buFontTx/>
              <a:buNone/>
              <a:tabLst/>
              <a:defRPr/>
            </a:pPr>
            <a:fld id="{AC408FFD-7B8B-4531-8D91-39BBD98BB318}"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71145"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59930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E2F328D4-1466-4FEB-BE78-F3EB539E1E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4800" y="323850"/>
            <a:ext cx="1427694" cy="323850"/>
          </a:xfrm>
          <a:prstGeom prst="rect">
            <a:avLst/>
          </a:prstGeom>
        </p:spPr>
      </p:pic>
    </p:spTree>
    <p:extLst>
      <p:ext uri="{BB962C8B-B14F-4D97-AF65-F5344CB8AC3E}">
        <p14:creationId xmlns:p14="http://schemas.microsoft.com/office/powerpoint/2010/main" val="138768813"/>
      </p:ext>
    </p:extLst>
  </p:cSld>
  <p:clrMapOvr>
    <a:masterClrMapping/>
  </p:clrMapOvr>
  <p:transition>
    <p:fade/>
  </p:transition>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30898" y="461443"/>
            <a:ext cx="6197918" cy="39171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28613" y="1048538"/>
            <a:ext cx="6197918" cy="934871"/>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6858000" cy="9144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1" y="0"/>
            <a:ext cx="329184" cy="7802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5987" tIns="84789" rIns="105987" bIns="84789" numCol="1" spcCol="0" rtlCol="0" fromWordArt="0" anchor="t" anchorCtr="0" forceAA="0" compatLnSpc="1">
            <a:prstTxWarp prst="textNoShape">
              <a:avLst/>
            </a:prstTxWarp>
            <a:noAutofit/>
          </a:bodyPr>
          <a:lstStyle/>
          <a:p>
            <a:pPr algn="ctr" defTabSz="540382" fontAlgn="base">
              <a:lnSpc>
                <a:spcPct val="90000"/>
              </a:lnSpc>
              <a:spcBef>
                <a:spcPct val="0"/>
              </a:spcBef>
              <a:spcAft>
                <a:spcPct val="0"/>
              </a:spcAft>
            </a:pPr>
            <a:endParaRPr lang="en-US" sz="1391">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64593" cy="390144"/>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5987" tIns="84789" rIns="105987" bIns="84789" numCol="1" spcCol="0" rtlCol="0" fromWordArt="0" anchor="t" anchorCtr="0" forceAA="0" compatLnSpc="1">
            <a:prstTxWarp prst="textNoShape">
              <a:avLst/>
            </a:prstTxWarp>
            <a:noAutofit/>
          </a:bodyPr>
          <a:lstStyle/>
          <a:p>
            <a:pPr algn="ctr" defTabSz="540382" fontAlgn="base">
              <a:lnSpc>
                <a:spcPct val="90000"/>
              </a:lnSpc>
              <a:spcBef>
                <a:spcPct val="0"/>
              </a:spcBef>
              <a:spcAft>
                <a:spcPct val="0"/>
              </a:spcAft>
            </a:pPr>
            <a:endParaRPr lang="en-US" sz="1391">
              <a:gradFill>
                <a:gsLst>
                  <a:gs pos="0">
                    <a:srgbClr val="FFFFFF"/>
                  </a:gs>
                  <a:gs pos="100000">
                    <a:srgbClr val="FFFFFF"/>
                  </a:gs>
                </a:gsLst>
                <a:lin ang="5400000" scaled="0"/>
              </a:gradFill>
              <a:ea typeface="Segoe UI" pitchFamily="34" charset="0"/>
              <a:cs typeface="Segoe UI" pitchFamily="34" charset="0"/>
            </a:endParaRPr>
          </a:p>
        </p:txBody>
      </p:sp>
      <p:sp>
        <p:nvSpPr>
          <p:cNvPr id="55" name="Footer Placeholder 3">
            <a:extLst>
              <a:ext uri="{FF2B5EF4-FFF2-40B4-BE49-F238E27FC236}">
                <a16:creationId xmlns:a16="http://schemas.microsoft.com/office/drawing/2014/main" id="{EA3A1E97-C214-0043-B8B6-BF42CCBA621E}"/>
              </a:ext>
            </a:extLst>
          </p:cNvPr>
          <p:cNvSpPr txBox="1">
            <a:spLocks/>
          </p:cNvSpPr>
          <p:nvPr userDrawn="1"/>
        </p:nvSpPr>
        <p:spPr>
          <a:xfrm>
            <a:off x="4214802" y="8840724"/>
            <a:ext cx="2314597" cy="72136"/>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521"/>
              <a:t>Microsoft Confidential – Internal only</a:t>
            </a:r>
          </a:p>
        </p:txBody>
      </p:sp>
    </p:spTree>
    <p:extLst>
      <p:ext uri="{BB962C8B-B14F-4D97-AF65-F5344CB8AC3E}">
        <p14:creationId xmlns:p14="http://schemas.microsoft.com/office/powerpoint/2010/main" val="1191703447"/>
      </p:ext>
    </p:extLst>
  </p:cSld>
  <p:clrMap bg1="lt1" tx1="dk1" bg2="lt2" tx2="dk2" accent1="accent1" accent2="accent2" accent3="accent3" accent4="accent4" accent5="accent5" accent6="accent6" hlink="hlink" folHlink="folHlink"/>
  <p:sldLayoutIdLst>
    <p:sldLayoutId id="2147483678" r:id="rId1"/>
  </p:sldLayoutIdLst>
  <p:transition>
    <p:fade/>
  </p:transition>
  <p:hf hdr="0" ftr="0" dt="0"/>
  <p:txStyles>
    <p:titleStyle>
      <a:lvl1pPr algn="l" defTabSz="540538" rtl="0" eaLnBrk="1" latinLnBrk="0" hangingPunct="1">
        <a:lnSpc>
          <a:spcPct val="100000"/>
        </a:lnSpc>
        <a:spcBef>
          <a:spcPct val="0"/>
        </a:spcBef>
        <a:buNone/>
        <a:defRPr lang="en-US" sz="2545" b="0" kern="1200" cap="none" spc="0" baseline="0" dirty="0" smtClean="0">
          <a:ln w="3175">
            <a:noFill/>
          </a:ln>
          <a:solidFill>
            <a:schemeClr val="tx2"/>
          </a:solidFill>
          <a:effectLst/>
          <a:latin typeface="+mj-lt"/>
          <a:ea typeface="+mn-ea"/>
          <a:cs typeface="Segoe UI" pitchFamily="34" charset="0"/>
        </a:defRPr>
      </a:lvl1pPr>
    </p:titleStyle>
    <p:bodyStyle>
      <a:lvl1pPr marL="132478" marR="0" indent="-132478" algn="l" defTabSz="540538"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23" kern="1200" spc="0" baseline="0">
          <a:solidFill>
            <a:schemeClr val="tx1"/>
          </a:solidFill>
          <a:latin typeface="+mn-lt"/>
          <a:ea typeface="+mn-ea"/>
          <a:cs typeface="Segoe UI" panose="020B0502040204020203" pitchFamily="34" charset="0"/>
        </a:defRPr>
      </a:lvl1pPr>
      <a:lvl2pPr marL="264955" marR="0" indent="-132478" algn="l" defTabSz="540538"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159" kern="1200" spc="0" baseline="0">
          <a:solidFill>
            <a:schemeClr val="tx1"/>
          </a:solidFill>
          <a:latin typeface="+mn-lt"/>
          <a:ea typeface="+mn-ea"/>
          <a:cs typeface="+mn-cs"/>
        </a:defRPr>
      </a:lvl2pPr>
      <a:lvl3pPr marL="380872" marR="0" indent="-115917" algn="l" defTabSz="540538"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927" kern="1200" spc="0" baseline="0">
          <a:solidFill>
            <a:schemeClr val="tx1"/>
          </a:solidFill>
          <a:latin typeface="+mn-lt"/>
          <a:ea typeface="+mn-ea"/>
          <a:cs typeface="+mn-cs"/>
        </a:defRPr>
      </a:lvl3pPr>
      <a:lvl4pPr marL="488510" marR="0" indent="-104879" algn="l" defTabSz="540538"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12" kern="1200" spc="0" baseline="0">
          <a:solidFill>
            <a:schemeClr val="tx1"/>
          </a:solidFill>
          <a:latin typeface="+mn-lt"/>
          <a:ea typeface="+mn-ea"/>
          <a:cs typeface="+mn-cs"/>
        </a:defRPr>
      </a:lvl4pPr>
      <a:lvl5pPr marL="593388" marR="0" indent="-97518" algn="l" defTabSz="540538"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12" kern="1200" spc="0" baseline="0">
          <a:solidFill>
            <a:schemeClr val="tx1"/>
          </a:solidFill>
          <a:latin typeface="+mn-lt"/>
          <a:ea typeface="+mn-ea"/>
          <a:cs typeface="+mn-cs"/>
        </a:defRPr>
      </a:lvl5pPr>
      <a:lvl6pPr marL="1486480" indent="-135135" algn="l" defTabSz="540538" rtl="0" eaLnBrk="1" latinLnBrk="0" hangingPunct="1">
        <a:spcBef>
          <a:spcPct val="20000"/>
        </a:spcBef>
        <a:buFont typeface="Arial" pitchFamily="34" charset="0"/>
        <a:buChar char="•"/>
        <a:defRPr sz="1159" kern="1200">
          <a:solidFill>
            <a:schemeClr val="tx1"/>
          </a:solidFill>
          <a:latin typeface="+mn-lt"/>
          <a:ea typeface="+mn-ea"/>
          <a:cs typeface="+mn-cs"/>
        </a:defRPr>
      </a:lvl6pPr>
      <a:lvl7pPr marL="1756751" indent="-135135" algn="l" defTabSz="540538" rtl="0" eaLnBrk="1" latinLnBrk="0" hangingPunct="1">
        <a:spcBef>
          <a:spcPct val="20000"/>
        </a:spcBef>
        <a:buFont typeface="Arial" pitchFamily="34" charset="0"/>
        <a:buChar char="•"/>
        <a:defRPr sz="1159" kern="1200">
          <a:solidFill>
            <a:schemeClr val="tx1"/>
          </a:solidFill>
          <a:latin typeface="+mn-lt"/>
          <a:ea typeface="+mn-ea"/>
          <a:cs typeface="+mn-cs"/>
        </a:defRPr>
      </a:lvl7pPr>
      <a:lvl8pPr marL="2027020" indent="-135135" algn="l" defTabSz="540538" rtl="0" eaLnBrk="1" latinLnBrk="0" hangingPunct="1">
        <a:spcBef>
          <a:spcPct val="20000"/>
        </a:spcBef>
        <a:buFont typeface="Arial" pitchFamily="34" charset="0"/>
        <a:buChar char="•"/>
        <a:defRPr sz="1159" kern="1200">
          <a:solidFill>
            <a:schemeClr val="tx1"/>
          </a:solidFill>
          <a:latin typeface="+mn-lt"/>
          <a:ea typeface="+mn-ea"/>
          <a:cs typeface="+mn-cs"/>
        </a:defRPr>
      </a:lvl8pPr>
      <a:lvl9pPr marL="2297289" indent="-135135" algn="l" defTabSz="540538" rtl="0" eaLnBrk="1" latinLnBrk="0" hangingPunct="1">
        <a:spcBef>
          <a:spcPct val="20000"/>
        </a:spcBef>
        <a:buFont typeface="Arial" pitchFamily="34" charset="0"/>
        <a:buChar char="•"/>
        <a:defRPr sz="1159" kern="1200">
          <a:solidFill>
            <a:schemeClr val="tx1"/>
          </a:solidFill>
          <a:latin typeface="+mn-lt"/>
          <a:ea typeface="+mn-ea"/>
          <a:cs typeface="+mn-cs"/>
        </a:defRPr>
      </a:lvl9pPr>
    </p:bodyStyle>
    <p:otherStyle>
      <a:defPPr>
        <a:defRPr lang="en-US"/>
      </a:defPPr>
      <a:lvl1pPr marL="0" algn="l" defTabSz="540538" rtl="0" eaLnBrk="1" latinLnBrk="0" hangingPunct="1">
        <a:defRPr sz="1044" kern="1200">
          <a:solidFill>
            <a:schemeClr val="tx1"/>
          </a:solidFill>
          <a:latin typeface="+mn-lt"/>
          <a:ea typeface="+mn-ea"/>
          <a:cs typeface="+mn-cs"/>
        </a:defRPr>
      </a:lvl1pPr>
      <a:lvl2pPr marL="270269" algn="l" defTabSz="540538" rtl="0" eaLnBrk="1" latinLnBrk="0" hangingPunct="1">
        <a:defRPr sz="1044" kern="1200">
          <a:solidFill>
            <a:schemeClr val="tx1"/>
          </a:solidFill>
          <a:latin typeface="+mn-lt"/>
          <a:ea typeface="+mn-ea"/>
          <a:cs typeface="+mn-cs"/>
        </a:defRPr>
      </a:lvl2pPr>
      <a:lvl3pPr marL="540538" algn="l" defTabSz="540538" rtl="0" eaLnBrk="1" latinLnBrk="0" hangingPunct="1">
        <a:defRPr sz="1044" kern="1200">
          <a:solidFill>
            <a:schemeClr val="tx1"/>
          </a:solidFill>
          <a:latin typeface="+mn-lt"/>
          <a:ea typeface="+mn-ea"/>
          <a:cs typeface="+mn-cs"/>
        </a:defRPr>
      </a:lvl3pPr>
      <a:lvl4pPr marL="810808" algn="l" defTabSz="540538" rtl="0" eaLnBrk="1" latinLnBrk="0" hangingPunct="1">
        <a:defRPr sz="1044" kern="1200">
          <a:solidFill>
            <a:schemeClr val="tx1"/>
          </a:solidFill>
          <a:latin typeface="+mn-lt"/>
          <a:ea typeface="+mn-ea"/>
          <a:cs typeface="+mn-cs"/>
        </a:defRPr>
      </a:lvl4pPr>
      <a:lvl5pPr marL="1081077" algn="l" defTabSz="540538" rtl="0" eaLnBrk="1" latinLnBrk="0" hangingPunct="1">
        <a:defRPr sz="1044" kern="1200">
          <a:solidFill>
            <a:schemeClr val="tx1"/>
          </a:solidFill>
          <a:latin typeface="+mn-lt"/>
          <a:ea typeface="+mn-ea"/>
          <a:cs typeface="+mn-cs"/>
        </a:defRPr>
      </a:lvl5pPr>
      <a:lvl6pPr marL="1351346" algn="l" defTabSz="540538" rtl="0" eaLnBrk="1" latinLnBrk="0" hangingPunct="1">
        <a:defRPr sz="1044" kern="1200">
          <a:solidFill>
            <a:schemeClr val="tx1"/>
          </a:solidFill>
          <a:latin typeface="+mn-lt"/>
          <a:ea typeface="+mn-ea"/>
          <a:cs typeface="+mn-cs"/>
        </a:defRPr>
      </a:lvl6pPr>
      <a:lvl7pPr marL="1621615" algn="l" defTabSz="540538" rtl="0" eaLnBrk="1" latinLnBrk="0" hangingPunct="1">
        <a:defRPr sz="1044" kern="1200">
          <a:solidFill>
            <a:schemeClr val="tx1"/>
          </a:solidFill>
          <a:latin typeface="+mn-lt"/>
          <a:ea typeface="+mn-ea"/>
          <a:cs typeface="+mn-cs"/>
        </a:defRPr>
      </a:lvl7pPr>
      <a:lvl8pPr marL="1891885" algn="l" defTabSz="540538" rtl="0" eaLnBrk="1" latinLnBrk="0" hangingPunct="1">
        <a:defRPr sz="1044" kern="1200">
          <a:solidFill>
            <a:schemeClr val="tx1"/>
          </a:solidFill>
          <a:latin typeface="+mn-lt"/>
          <a:ea typeface="+mn-ea"/>
          <a:cs typeface="+mn-cs"/>
        </a:defRPr>
      </a:lvl8pPr>
      <a:lvl9pPr marL="2162155" algn="l" defTabSz="540538" rtl="0" eaLnBrk="1" latinLnBrk="0" hangingPunct="1">
        <a:defRPr sz="1044"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192" userDrawn="1">
          <p15:clr>
            <a:srgbClr val="C35EA4"/>
          </p15:clr>
        </p15:guide>
        <p15:guide id="17" pos="4128" userDrawn="1">
          <p15:clr>
            <a:srgbClr val="C35EA4"/>
          </p15:clr>
        </p15:guide>
        <p15:guide id="25" orient="horz" pos="288" userDrawn="1">
          <p15:clr>
            <a:srgbClr val="C35EA4"/>
          </p15:clr>
        </p15:guide>
        <p15:guide id="26" orient="horz" pos="5472" userDrawn="1">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itle 3">
            <a:extLst>
              <a:ext uri="{FF2B5EF4-FFF2-40B4-BE49-F238E27FC236}">
                <a16:creationId xmlns:a16="http://schemas.microsoft.com/office/drawing/2014/main" id="{3C70D4D0-72D1-3801-75D6-3388C3FD65A4}"/>
              </a:ext>
              <a:ext uri="{C183D7F6-B498-43B3-948B-1728B52AA6E4}">
                <adec:decorative xmlns:adec="http://schemas.microsoft.com/office/drawing/2017/decorative" val="1"/>
              </a:ext>
            </a:extLst>
          </p:cNvPr>
          <p:cNvSpPr txBox="1">
            <a:spLocks noGrp="1"/>
          </p:cNvSpPr>
          <p:nvPr>
            <p:ph type="title" idx="4294967295"/>
          </p:nvPr>
        </p:nvSpPr>
        <p:spPr>
          <a:xfrm>
            <a:off x="304800" y="715047"/>
            <a:ext cx="6248400" cy="36933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2800" b="0" kern="1200" cap="none" spc="0" baseline="0" dirty="0" smtClean="0">
                <a:ln w="3175">
                  <a:noFill/>
                </a:ln>
                <a:solidFill>
                  <a:schemeClr val="tx2"/>
                </a:solidFill>
                <a:effectLst/>
                <a:latin typeface="+mj-lt"/>
                <a:ea typeface="+mn-ea"/>
                <a:cs typeface="Segoe UI" pitchFamily="34" charset="0"/>
              </a:defRPr>
            </a:lvl1pPr>
          </a:lstStyle>
          <a:p>
            <a:pPr marL="0" marR="0" lvl="0" indent="0" algn="l" defTabSz="509290" rtl="0" eaLnBrk="1" fontAlgn="auto" latinLnBrk="0" hangingPunct="1">
              <a:lnSpc>
                <a:spcPct val="100000"/>
              </a:lnSpc>
              <a:spcBef>
                <a:spcPct val="0"/>
              </a:spcBef>
              <a:spcAft>
                <a:spcPts val="0"/>
              </a:spcAft>
              <a:buClrTx/>
              <a:buSzTx/>
              <a:buFontTx/>
              <a:buNone/>
              <a:tabLst/>
              <a:defRPr/>
            </a:pPr>
            <a:r>
              <a:rPr kumimoji="0" lang="en-IN" sz="2400" b="0" i="0" u="none" strike="noStrike" kern="1200" cap="none" spc="0" normalizeH="0" baseline="0" noProof="0">
                <a:ln w="3175">
                  <a:noFill/>
                </a:ln>
                <a:solidFill>
                  <a:srgbClr val="243A5E"/>
                </a:solidFill>
                <a:effectLst/>
                <a:uLnTx/>
                <a:uFillTx/>
                <a:latin typeface="Segoe UI Semibold"/>
                <a:ea typeface="+mn-ea"/>
                <a:cs typeface="Segoe UI" pitchFamily="34" charset="0"/>
              </a:rPr>
              <a:t>FinOps on Azure</a:t>
            </a:r>
          </a:p>
        </p:txBody>
      </p:sp>
      <p:sp>
        <p:nvSpPr>
          <p:cNvPr id="82" name="TextBox 81">
            <a:extLst>
              <a:ext uri="{FF2B5EF4-FFF2-40B4-BE49-F238E27FC236}">
                <a16:creationId xmlns:a16="http://schemas.microsoft.com/office/drawing/2014/main" id="{DC784E06-BB70-AB61-0287-11B7AAE3FA7C}"/>
              </a:ext>
              <a:ext uri="{C183D7F6-B498-43B3-948B-1728B52AA6E4}">
                <adec:decorative xmlns:adec="http://schemas.microsoft.com/office/drawing/2017/decorative" val="1"/>
              </a:ext>
            </a:extLst>
          </p:cNvPr>
          <p:cNvSpPr txBox="1"/>
          <p:nvPr/>
        </p:nvSpPr>
        <p:spPr>
          <a:xfrm>
            <a:off x="304800" y="1156949"/>
            <a:ext cx="3116815" cy="246221"/>
          </a:xfrm>
          <a:prstGeom prst="rect">
            <a:avLst/>
          </a:prstGeom>
          <a:noFill/>
        </p:spPr>
        <p:txBody>
          <a:bodyPr wrap="none" lIns="0" tIns="0" rIns="0" bIns="0" anchor="t">
            <a:spAutoFit/>
          </a:bodyPr>
          <a:lstStyle/>
          <a:p>
            <a:pPr marL="0" marR="0" lvl="0" indent="0" algn="l" defTabSz="391588"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Designated Engineering overview</a:t>
            </a:r>
          </a:p>
        </p:txBody>
      </p:sp>
      <p:sp>
        <p:nvSpPr>
          <p:cNvPr id="2" name="Rectangle 1">
            <a:extLst>
              <a:ext uri="{FF2B5EF4-FFF2-40B4-BE49-F238E27FC236}">
                <a16:creationId xmlns:a16="http://schemas.microsoft.com/office/drawing/2014/main" id="{B9822438-D564-B1EF-EF2E-E036AA581636}"/>
              </a:ext>
              <a:ext uri="{C183D7F6-B498-43B3-948B-1728B52AA6E4}">
                <adec:decorative xmlns:adec="http://schemas.microsoft.com/office/drawing/2017/decorative" val="1"/>
              </a:ext>
            </a:extLst>
          </p:cNvPr>
          <p:cNvSpPr>
            <a:spLocks/>
          </p:cNvSpPr>
          <p:nvPr/>
        </p:nvSpPr>
        <p:spPr>
          <a:xfrm>
            <a:off x="320660" y="1700763"/>
            <a:ext cx="2886468" cy="338554"/>
          </a:xfrm>
          <a:prstGeom prst="rect">
            <a:avLst/>
          </a:prstGeom>
          <a:noFill/>
          <a:ln w="6350">
            <a:noFill/>
          </a:ln>
          <a:effectLst/>
        </p:spPr>
        <p:txBody>
          <a:bodyPr wrap="square" lIns="0" tIns="0" rIns="0" bIns="0" anchor="ctr">
            <a:spAutoFit/>
          </a:bodyPr>
          <a:lstStyle/>
          <a:p>
            <a:pPr marL="0" marR="0" lvl="0" indent="0" algn="l" defTabSz="887553" rtl="0" eaLnBrk="1" fontAlgn="base" latinLnBrk="0" hangingPunct="1">
              <a:lnSpc>
                <a:spcPct val="100000"/>
              </a:lnSpc>
              <a:spcBef>
                <a:spcPts val="0"/>
              </a:spcBef>
              <a:spcAft>
                <a:spcPts val="97"/>
              </a:spcAft>
              <a:buClrTx/>
              <a:buSzTx/>
              <a:buFontTx/>
              <a:buNone/>
              <a:tabLst/>
              <a:defRPr/>
            </a:pPr>
            <a:r>
              <a:rPr kumimoji="0" lang="en-US" sz="1100"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rPr>
              <a:t>Accelerate innovation and increase efficiencies in cloud financial management</a:t>
            </a:r>
          </a:p>
        </p:txBody>
      </p:sp>
      <p:sp>
        <p:nvSpPr>
          <p:cNvPr id="47" name="Rectangle 46">
            <a:extLst>
              <a:ext uri="{FF2B5EF4-FFF2-40B4-BE49-F238E27FC236}">
                <a16:creationId xmlns:a16="http://schemas.microsoft.com/office/drawing/2014/main" id="{D00966D1-9CAE-F01B-36FC-FEEA22738DC9}"/>
              </a:ext>
              <a:ext uri="{C183D7F6-B498-43B3-948B-1728B52AA6E4}">
                <adec:decorative xmlns:adec="http://schemas.microsoft.com/office/drawing/2017/decorative" val="1"/>
              </a:ext>
            </a:extLst>
          </p:cNvPr>
          <p:cNvSpPr>
            <a:spLocks/>
          </p:cNvSpPr>
          <p:nvPr/>
        </p:nvSpPr>
        <p:spPr>
          <a:xfrm>
            <a:off x="326632" y="2294975"/>
            <a:ext cx="2880496" cy="923330"/>
          </a:xfrm>
          <a:prstGeom prst="rect">
            <a:avLst/>
          </a:prstGeom>
          <a:noFill/>
          <a:ln w="6350">
            <a:noFill/>
          </a:ln>
          <a:effectLst/>
        </p:spPr>
        <p:txBody>
          <a:bodyPr wrap="square" lIns="0" tIns="0" rIns="0" bIns="0" anchor="ctr">
            <a:spAutoFit/>
          </a:bodyPr>
          <a:lstStyle/>
          <a:p>
            <a:pPr marL="0" marR="0" lvl="0" indent="0" algn="l" defTabSz="887553" rtl="0" eaLnBrk="1" fontAlgn="base" latinLnBrk="0" hangingPunct="1">
              <a:lnSpc>
                <a:spcPct val="100000"/>
              </a:lnSpc>
              <a:spcBef>
                <a:spcPts val="0"/>
              </a:spcBef>
              <a:spcAft>
                <a:spcPts val="97"/>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Drive innovation by embedding key financial operations (FinOps) principles into your cloud governance and operations model. Learn how to integrate cloud financial management into core processes and automate tasks to boost productivity and maximize financial performance.</a:t>
            </a:r>
          </a:p>
        </p:txBody>
      </p:sp>
      <p:grpSp>
        <p:nvGrpSpPr>
          <p:cNvPr id="9" name="Group 8">
            <a:extLst>
              <a:ext uri="{FF2B5EF4-FFF2-40B4-BE49-F238E27FC236}">
                <a16:creationId xmlns:a16="http://schemas.microsoft.com/office/drawing/2014/main" id="{DC15B5D1-F2D1-6939-F0F8-5366C1402995}"/>
              </a:ext>
              <a:ext uri="{C183D7F6-B498-43B3-948B-1728B52AA6E4}">
                <adec:decorative xmlns:adec="http://schemas.microsoft.com/office/drawing/2017/decorative" val="1"/>
              </a:ext>
            </a:extLst>
          </p:cNvPr>
          <p:cNvGrpSpPr/>
          <p:nvPr/>
        </p:nvGrpSpPr>
        <p:grpSpPr>
          <a:xfrm>
            <a:off x="3445031" y="1506904"/>
            <a:ext cx="3118810" cy="258551"/>
            <a:chOff x="3361484" y="1481605"/>
            <a:chExt cx="3118810" cy="258551"/>
          </a:xfrm>
        </p:grpSpPr>
        <p:sp>
          <p:nvSpPr>
            <p:cNvPr id="56" name="Rectangle: Rounded Corners 55">
              <a:extLst>
                <a:ext uri="{FF2B5EF4-FFF2-40B4-BE49-F238E27FC236}">
                  <a16:creationId xmlns:a16="http://schemas.microsoft.com/office/drawing/2014/main" id="{96924A86-0956-ADB2-373F-CFB00666E181}"/>
                </a:ext>
              </a:extLst>
            </p:cNvPr>
            <p:cNvSpPr/>
            <p:nvPr/>
          </p:nvSpPr>
          <p:spPr>
            <a:xfrm>
              <a:off x="3361484" y="1481605"/>
              <a:ext cx="3118810" cy="258551"/>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86091" tIns="78309" rIns="78309" bIns="78309" rtlCol="0" anchor="ctr"/>
            <a:lstStyle/>
            <a:p>
              <a:pPr marL="0" marR="0" lvl="0" indent="0" algn="l" defTabSz="391588"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latin typeface="Segoe UI Semibold"/>
                  <a:ea typeface="+mn-lt"/>
                  <a:cs typeface="Segoe UI"/>
                </a:rPr>
                <a:t>Business focus</a:t>
              </a:r>
            </a:p>
          </p:txBody>
        </p:sp>
        <p:grpSp>
          <p:nvGrpSpPr>
            <p:cNvPr id="57" name="Group 56">
              <a:extLst>
                <a:ext uri="{FF2B5EF4-FFF2-40B4-BE49-F238E27FC236}">
                  <a16:creationId xmlns:a16="http://schemas.microsoft.com/office/drawing/2014/main" id="{759A9492-3300-AF48-4533-E3D783FE1E48}"/>
                </a:ext>
              </a:extLst>
            </p:cNvPr>
            <p:cNvGrpSpPr/>
            <p:nvPr/>
          </p:nvGrpSpPr>
          <p:grpSpPr>
            <a:xfrm>
              <a:off x="3391250" y="1518379"/>
              <a:ext cx="199816" cy="194035"/>
              <a:chOff x="4050669" y="1351549"/>
              <a:chExt cx="205871" cy="199916"/>
            </a:xfrm>
          </p:grpSpPr>
          <p:sp>
            <p:nvSpPr>
              <p:cNvPr id="58" name="Oval 57">
                <a:extLst>
                  <a:ext uri="{FF2B5EF4-FFF2-40B4-BE49-F238E27FC236}">
                    <a16:creationId xmlns:a16="http://schemas.microsoft.com/office/drawing/2014/main" id="{1F7B71C8-6B14-8A8F-823D-A4B304AB82CC}"/>
                  </a:ext>
                </a:extLst>
              </p:cNvPr>
              <p:cNvSpPr/>
              <p:nvPr/>
            </p:nvSpPr>
            <p:spPr>
              <a:xfrm>
                <a:off x="4050669" y="1351549"/>
                <a:ext cx="205871" cy="199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91588" rtl="0" eaLnBrk="1" fontAlgn="auto" latinLnBrk="0" hangingPunct="1">
                  <a:lnSpc>
                    <a:spcPct val="100000"/>
                  </a:lnSpc>
                  <a:spcBef>
                    <a:spcPts val="0"/>
                  </a:spcBef>
                  <a:spcAft>
                    <a:spcPts val="0"/>
                  </a:spcAft>
                  <a:buClrTx/>
                  <a:buSzTx/>
                  <a:buFontTx/>
                  <a:buNone/>
                  <a:tabLst/>
                  <a:defRPr/>
                </a:pPr>
                <a:endParaRPr kumimoji="0" lang="en-US" sz="1235" b="0" i="0" u="none" strike="noStrike" kern="1200" cap="none" spc="0" normalizeH="0" baseline="0" noProof="0">
                  <a:ln>
                    <a:noFill/>
                  </a:ln>
                  <a:solidFill>
                    <a:srgbClr val="FFFFFF"/>
                  </a:solidFill>
                  <a:effectLst/>
                  <a:uLnTx/>
                  <a:uFillTx/>
                  <a:latin typeface="Segoe UI"/>
                  <a:ea typeface="+mn-ea"/>
                  <a:cs typeface="+mn-cs"/>
                </a:endParaRPr>
              </a:p>
            </p:txBody>
          </p:sp>
          <p:sp>
            <p:nvSpPr>
              <p:cNvPr id="59" name="network_3" title="Icon of a server connected to a network">
                <a:extLst>
                  <a:ext uri="{FF2B5EF4-FFF2-40B4-BE49-F238E27FC236}">
                    <a16:creationId xmlns:a16="http://schemas.microsoft.com/office/drawing/2014/main" id="{0B446392-F56D-05FC-C1E5-3CFCB0F023C5}"/>
                  </a:ext>
                </a:extLst>
              </p:cNvPr>
              <p:cNvSpPr>
                <a:spLocks noChangeAspect="1" noEditPoints="1"/>
              </p:cNvSpPr>
              <p:nvPr/>
            </p:nvSpPr>
            <p:spPr bwMode="auto">
              <a:xfrm>
                <a:off x="4091352" y="1384123"/>
                <a:ext cx="124504" cy="125464"/>
              </a:xfrm>
              <a:custGeom>
                <a:avLst/>
                <a:gdLst>
                  <a:gd name="T0" fmla="*/ 136 w 270"/>
                  <a:gd name="T1" fmla="*/ 281 h 281"/>
                  <a:gd name="T2" fmla="*/ 71 w 270"/>
                  <a:gd name="T3" fmla="*/ 281 h 281"/>
                  <a:gd name="T4" fmla="*/ 71 w 270"/>
                  <a:gd name="T5" fmla="*/ 240 h 281"/>
                  <a:gd name="T6" fmla="*/ 115 w 270"/>
                  <a:gd name="T7" fmla="*/ 240 h 281"/>
                  <a:gd name="T8" fmla="*/ 115 w 270"/>
                  <a:gd name="T9" fmla="*/ 218 h 281"/>
                  <a:gd name="T10" fmla="*/ 157 w 270"/>
                  <a:gd name="T11" fmla="*/ 218 h 281"/>
                  <a:gd name="T12" fmla="*/ 157 w 270"/>
                  <a:gd name="T13" fmla="*/ 240 h 281"/>
                  <a:gd name="T14" fmla="*/ 198 w 270"/>
                  <a:gd name="T15" fmla="*/ 240 h 281"/>
                  <a:gd name="T16" fmla="*/ 198 w 270"/>
                  <a:gd name="T17" fmla="*/ 281 h 281"/>
                  <a:gd name="T18" fmla="*/ 136 w 270"/>
                  <a:gd name="T19" fmla="*/ 281 h 281"/>
                  <a:gd name="T20" fmla="*/ 71 w 270"/>
                  <a:gd name="T21" fmla="*/ 260 h 281"/>
                  <a:gd name="T22" fmla="*/ 0 w 270"/>
                  <a:gd name="T23" fmla="*/ 260 h 281"/>
                  <a:gd name="T24" fmla="*/ 198 w 270"/>
                  <a:gd name="T25" fmla="*/ 260 h 281"/>
                  <a:gd name="T26" fmla="*/ 270 w 270"/>
                  <a:gd name="T27" fmla="*/ 260 h 281"/>
                  <a:gd name="T28" fmla="*/ 135 w 270"/>
                  <a:gd name="T29" fmla="*/ 218 h 281"/>
                  <a:gd name="T30" fmla="*/ 135 w 270"/>
                  <a:gd name="T31" fmla="*/ 190 h 281"/>
                  <a:gd name="T32" fmla="*/ 191 w 270"/>
                  <a:gd name="T33" fmla="*/ 189 h 281"/>
                  <a:gd name="T34" fmla="*/ 191 w 270"/>
                  <a:gd name="T35" fmla="*/ 14 h 281"/>
                  <a:gd name="T36" fmla="*/ 177 w 270"/>
                  <a:gd name="T37" fmla="*/ 0 h 281"/>
                  <a:gd name="T38" fmla="*/ 93 w 270"/>
                  <a:gd name="T39" fmla="*/ 0 h 281"/>
                  <a:gd name="T40" fmla="*/ 79 w 270"/>
                  <a:gd name="T41" fmla="*/ 14 h 281"/>
                  <a:gd name="T42" fmla="*/ 79 w 270"/>
                  <a:gd name="T43" fmla="*/ 189 h 281"/>
                  <a:gd name="T44" fmla="*/ 191 w 270"/>
                  <a:gd name="T45" fmla="*/ 189 h 281"/>
                  <a:gd name="T46" fmla="*/ 110 w 270"/>
                  <a:gd name="T47" fmla="*/ 37 h 281"/>
                  <a:gd name="T48" fmla="*/ 160 w 270"/>
                  <a:gd name="T49" fmla="*/ 37 h 281"/>
                  <a:gd name="T50" fmla="*/ 110 w 270"/>
                  <a:gd name="T51" fmla="*/ 113 h 281"/>
                  <a:gd name="T52" fmla="*/ 160 w 270"/>
                  <a:gd name="T53" fmla="*/ 113 h 281"/>
                  <a:gd name="T54" fmla="*/ 110 w 270"/>
                  <a:gd name="T55" fmla="*/ 150 h 281"/>
                  <a:gd name="T56" fmla="*/ 160 w 270"/>
                  <a:gd name="T57" fmla="*/ 15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0" h="281">
                    <a:moveTo>
                      <a:pt x="136" y="281"/>
                    </a:moveTo>
                    <a:cubicBezTo>
                      <a:pt x="71" y="281"/>
                      <a:pt x="71" y="281"/>
                      <a:pt x="71" y="281"/>
                    </a:cubicBezTo>
                    <a:cubicBezTo>
                      <a:pt x="71" y="240"/>
                      <a:pt x="71" y="240"/>
                      <a:pt x="71" y="240"/>
                    </a:cubicBezTo>
                    <a:cubicBezTo>
                      <a:pt x="115" y="240"/>
                      <a:pt x="115" y="240"/>
                      <a:pt x="115" y="240"/>
                    </a:cubicBezTo>
                    <a:cubicBezTo>
                      <a:pt x="115" y="218"/>
                      <a:pt x="115" y="218"/>
                      <a:pt x="115" y="218"/>
                    </a:cubicBezTo>
                    <a:cubicBezTo>
                      <a:pt x="157" y="218"/>
                      <a:pt x="157" y="218"/>
                      <a:pt x="157" y="218"/>
                    </a:cubicBezTo>
                    <a:cubicBezTo>
                      <a:pt x="157" y="240"/>
                      <a:pt x="157" y="240"/>
                      <a:pt x="157" y="240"/>
                    </a:cubicBezTo>
                    <a:cubicBezTo>
                      <a:pt x="198" y="240"/>
                      <a:pt x="198" y="240"/>
                      <a:pt x="198" y="240"/>
                    </a:cubicBezTo>
                    <a:cubicBezTo>
                      <a:pt x="198" y="281"/>
                      <a:pt x="198" y="281"/>
                      <a:pt x="198" y="281"/>
                    </a:cubicBezTo>
                    <a:lnTo>
                      <a:pt x="136" y="281"/>
                    </a:lnTo>
                    <a:close/>
                    <a:moveTo>
                      <a:pt x="71" y="260"/>
                    </a:moveTo>
                    <a:cubicBezTo>
                      <a:pt x="0" y="260"/>
                      <a:pt x="0" y="260"/>
                      <a:pt x="0" y="260"/>
                    </a:cubicBezTo>
                    <a:moveTo>
                      <a:pt x="198" y="260"/>
                    </a:moveTo>
                    <a:cubicBezTo>
                      <a:pt x="270" y="260"/>
                      <a:pt x="270" y="260"/>
                      <a:pt x="270" y="260"/>
                    </a:cubicBezTo>
                    <a:moveTo>
                      <a:pt x="135" y="218"/>
                    </a:moveTo>
                    <a:cubicBezTo>
                      <a:pt x="135" y="190"/>
                      <a:pt x="135" y="190"/>
                      <a:pt x="135" y="190"/>
                    </a:cubicBezTo>
                    <a:moveTo>
                      <a:pt x="191" y="189"/>
                    </a:moveTo>
                    <a:cubicBezTo>
                      <a:pt x="191" y="14"/>
                      <a:pt x="191" y="14"/>
                      <a:pt x="191" y="14"/>
                    </a:cubicBezTo>
                    <a:cubicBezTo>
                      <a:pt x="191" y="6"/>
                      <a:pt x="185" y="0"/>
                      <a:pt x="177" y="0"/>
                    </a:cubicBezTo>
                    <a:cubicBezTo>
                      <a:pt x="93" y="0"/>
                      <a:pt x="93" y="0"/>
                      <a:pt x="93" y="0"/>
                    </a:cubicBezTo>
                    <a:cubicBezTo>
                      <a:pt x="85" y="0"/>
                      <a:pt x="79" y="6"/>
                      <a:pt x="79" y="14"/>
                    </a:cubicBezTo>
                    <a:cubicBezTo>
                      <a:pt x="79" y="189"/>
                      <a:pt x="79" y="189"/>
                      <a:pt x="79" y="189"/>
                    </a:cubicBezTo>
                    <a:lnTo>
                      <a:pt x="191" y="189"/>
                    </a:lnTo>
                    <a:close/>
                    <a:moveTo>
                      <a:pt x="110" y="37"/>
                    </a:moveTo>
                    <a:cubicBezTo>
                      <a:pt x="160" y="37"/>
                      <a:pt x="160" y="37"/>
                      <a:pt x="160" y="37"/>
                    </a:cubicBezTo>
                    <a:moveTo>
                      <a:pt x="110" y="113"/>
                    </a:moveTo>
                    <a:cubicBezTo>
                      <a:pt x="160" y="113"/>
                      <a:pt x="160" y="113"/>
                      <a:pt x="160" y="113"/>
                    </a:cubicBezTo>
                    <a:moveTo>
                      <a:pt x="110" y="150"/>
                    </a:moveTo>
                    <a:cubicBezTo>
                      <a:pt x="160" y="150"/>
                      <a:pt x="160" y="150"/>
                      <a:pt x="160" y="150"/>
                    </a:cubicBezTo>
                  </a:path>
                </a:pathLst>
              </a:custGeom>
              <a:noFill/>
              <a:ln w="952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78309" tIns="39154" rIns="78309" bIns="39154" numCol="1" anchor="t" anchorCtr="0" compatLnSpc="1">
                <a:prstTxWarp prst="textNoShape">
                  <a:avLst/>
                </a:prstTxWarp>
              </a:bodyPr>
              <a:lstStyle/>
              <a:p>
                <a:pPr marL="0" marR="0" lvl="0" indent="0" algn="l" defTabSz="391588" rtl="0" eaLnBrk="1" fontAlgn="auto" latinLnBrk="0" hangingPunct="1">
                  <a:lnSpc>
                    <a:spcPct val="100000"/>
                  </a:lnSpc>
                  <a:spcBef>
                    <a:spcPts val="0"/>
                  </a:spcBef>
                  <a:spcAft>
                    <a:spcPts val="0"/>
                  </a:spcAft>
                  <a:buClrTx/>
                  <a:buSzTx/>
                  <a:buFontTx/>
                  <a:buNone/>
                  <a:tabLst/>
                  <a:defRPr/>
                </a:pPr>
                <a:endParaRPr kumimoji="0" lang="en-US" sz="1235"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sp>
        <p:nvSpPr>
          <p:cNvPr id="53" name="Freeform: Shape 42">
            <a:extLst>
              <a:ext uri="{FF2B5EF4-FFF2-40B4-BE49-F238E27FC236}">
                <a16:creationId xmlns:a16="http://schemas.microsoft.com/office/drawing/2014/main" id="{58241807-D115-1492-4453-3908574276A3}"/>
              </a:ext>
              <a:ext uri="{C183D7F6-B498-43B3-948B-1728B52AA6E4}">
                <adec:decorative xmlns:adec="http://schemas.microsoft.com/office/drawing/2017/decorative" val="1"/>
              </a:ext>
            </a:extLst>
          </p:cNvPr>
          <p:cNvSpPr>
            <a:spLocks/>
          </p:cNvSpPr>
          <p:nvPr/>
        </p:nvSpPr>
        <p:spPr bwMode="auto">
          <a:xfrm>
            <a:off x="3426379" y="1836224"/>
            <a:ext cx="3124200" cy="1423332"/>
          </a:xfrm>
          <a:prstGeom prst="roundRect">
            <a:avLst>
              <a:gd name="adj" fmla="val 5000"/>
            </a:avLst>
          </a:prstGeom>
          <a:solidFill>
            <a:schemeClr val="bg1">
              <a:lumMod val="95000"/>
            </a:schemeClr>
          </a:solidFill>
          <a:ln w="6350">
            <a:noFill/>
            <a:headEnd type="none" w="med" len="med"/>
            <a:tailEnd type="none" w="med" len="med"/>
          </a:ln>
          <a:effectLst>
            <a:outerShdw blurRad="38100" algn="ctr"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0682" tIns="40341" rIns="80682" bIns="40341" numCol="1" spcCol="0" rtlCol="0" fromWordArt="0" anchor="t" anchorCtr="0" forceAA="0" compatLnSpc="1">
            <a:prstTxWarp prst="textNoShape">
              <a:avLst/>
            </a:prstTxWarp>
            <a:noAutofit/>
          </a:bodyPr>
          <a:lstStyle/>
          <a:p>
            <a:pPr marL="0" marR="0" lvl="0" indent="0" algn="l" defTabSz="806867" rtl="0" eaLnBrk="1" fontAlgn="auto" latinLnBrk="0" hangingPunct="1">
              <a:lnSpc>
                <a:spcPct val="100000"/>
              </a:lnSpc>
              <a:spcBef>
                <a:spcPts val="100"/>
              </a:spcBef>
              <a:spcAft>
                <a:spcPts val="100"/>
              </a:spcAft>
              <a:buClrTx/>
              <a:buSzTx/>
              <a:buFontTx/>
              <a:buNone/>
              <a:tabLst/>
              <a:defRPr/>
            </a:pPr>
            <a:endParaRPr kumimoji="0" lang="en-US" sz="900" b="0" i="0" u="none" strike="noStrike" kern="0" cap="none" spc="0" normalizeH="0" baseline="0" noProof="0">
              <a:ln>
                <a:noFill/>
              </a:ln>
              <a:solidFill>
                <a:srgbClr val="000000"/>
              </a:solidFill>
              <a:effectLst/>
              <a:uLnTx/>
              <a:uFillTx/>
              <a:latin typeface="Segoe UI"/>
              <a:ea typeface="+mn-lt"/>
              <a:cs typeface="Segoe UI"/>
            </a:endParaRPr>
          </a:p>
        </p:txBody>
      </p:sp>
      <p:sp>
        <p:nvSpPr>
          <p:cNvPr id="48" name="TextBox 47">
            <a:extLst>
              <a:ext uri="{FF2B5EF4-FFF2-40B4-BE49-F238E27FC236}">
                <a16:creationId xmlns:a16="http://schemas.microsoft.com/office/drawing/2014/main" id="{37D28121-8231-C3FB-D1F3-107E72E44D41}"/>
              </a:ext>
              <a:ext uri="{C183D7F6-B498-43B3-948B-1728B52AA6E4}">
                <adec:decorative xmlns:adec="http://schemas.microsoft.com/office/drawing/2017/decorative" val="1"/>
              </a:ext>
            </a:extLst>
          </p:cNvPr>
          <p:cNvSpPr txBox="1">
            <a:spLocks/>
          </p:cNvSpPr>
          <p:nvPr/>
        </p:nvSpPr>
        <p:spPr>
          <a:xfrm>
            <a:off x="3547202" y="1896505"/>
            <a:ext cx="2871575" cy="769441"/>
          </a:xfrm>
          <a:prstGeom prst="rect">
            <a:avLst/>
          </a:prstGeom>
          <a:noFill/>
        </p:spPr>
        <p:txBody>
          <a:bodyPr wrap="square" lIns="0" tIns="0" rIns="0" bIns="0" rtlCol="0" anchor="t">
            <a:spAutoFit/>
          </a:bodyPr>
          <a:lstStyle/>
          <a:p>
            <a:pPr marL="0" marR="0" lvl="0" indent="0" algn="l" defTabSz="887553" rtl="0" eaLnBrk="1" fontAlgn="auto" latinLnBrk="0" hangingPunct="1">
              <a:lnSpc>
                <a:spcPct val="100000"/>
              </a:lnSpc>
              <a:spcBef>
                <a:spcPts val="388"/>
              </a:spcBef>
              <a:spcAft>
                <a:spcPts val="291"/>
              </a:spcAft>
              <a:buClrTx/>
              <a:buSzTx/>
              <a:buFontTx/>
              <a:buNone/>
              <a:tabLst/>
              <a:defRPr/>
            </a:pPr>
            <a:r>
              <a:rPr kumimoji="0" lang="en-US" sz="1000" b="0" i="0" u="none" strike="noStrike" kern="1200" cap="none" spc="0" normalizeH="0" baseline="0" noProof="0">
                <a:ln>
                  <a:noFill/>
                </a:ln>
                <a:solidFill>
                  <a:srgbClr val="243A5E"/>
                </a:solidFill>
                <a:effectLst/>
                <a:uLnTx/>
                <a:uFillTx/>
                <a:latin typeface="Segoe UI Semibold" panose="020B0702040204020203" pitchFamily="34" charset="0"/>
                <a:ea typeface="+mn-ea"/>
                <a:cs typeface="Segoe UI Semibold" panose="020B0702040204020203" pitchFamily="34" charset="0"/>
              </a:rPr>
              <a:t>Finance Management—</a:t>
            </a:r>
            <a:r>
              <a:rPr kumimoji="0" lang="en-US" sz="1000" b="0" i="0" u="none" strike="noStrike" kern="1200" cap="none" spc="0" normalizeH="0" baseline="0" noProof="0">
                <a:ln>
                  <a:noFill/>
                </a:ln>
                <a:effectLst/>
                <a:uLnTx/>
                <a:uFillTx/>
                <a:ea typeface="+mn-ea"/>
                <a:cs typeface="Segoe UI Semibold" panose="020B0702040204020203" pitchFamily="34" charset="0"/>
              </a:rPr>
              <a:t>Incrementally achieve the maturity of your FinOps capabilities based on business strategy and objectives while receiving support to implement cultural alignment between IT, business, and finance.</a:t>
            </a:r>
          </a:p>
        </p:txBody>
      </p:sp>
      <p:sp>
        <p:nvSpPr>
          <p:cNvPr id="61" name="Rectangle: Rounded Corners 60">
            <a:extLst>
              <a:ext uri="{FF2B5EF4-FFF2-40B4-BE49-F238E27FC236}">
                <a16:creationId xmlns:a16="http://schemas.microsoft.com/office/drawing/2014/main" id="{30B18B1F-1BF8-F557-9F97-14FB86EF0438}"/>
              </a:ext>
              <a:ext uri="{C183D7F6-B498-43B3-948B-1728B52AA6E4}">
                <adec:decorative xmlns:adec="http://schemas.microsoft.com/office/drawing/2017/decorative" val="1"/>
              </a:ext>
            </a:extLst>
          </p:cNvPr>
          <p:cNvSpPr/>
          <p:nvPr/>
        </p:nvSpPr>
        <p:spPr>
          <a:xfrm>
            <a:off x="294157" y="3444139"/>
            <a:ext cx="6259044" cy="258551"/>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50590" tIns="78309" rIns="78309" bIns="78309" rtlCol="0" anchor="ctr"/>
          <a:lstStyle/>
          <a:p>
            <a:pPr marL="0" marR="0" lvl="0" indent="0" algn="l" defTabSz="391588"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latin typeface="Segoe UI Semibold"/>
                <a:ea typeface="+mn-lt"/>
                <a:cs typeface="Segoe UI"/>
              </a:rPr>
              <a:t>Drive outcomes</a:t>
            </a:r>
          </a:p>
        </p:txBody>
      </p:sp>
      <p:sp>
        <p:nvSpPr>
          <p:cNvPr id="31" name="TextBox 30">
            <a:extLst>
              <a:ext uri="{FF2B5EF4-FFF2-40B4-BE49-F238E27FC236}">
                <a16:creationId xmlns:a16="http://schemas.microsoft.com/office/drawing/2014/main" id="{05B5FBD9-5D92-44D5-EF0F-8080E4DE375C}"/>
              </a:ext>
              <a:ext uri="{C183D7F6-B498-43B3-948B-1728B52AA6E4}">
                <adec:decorative xmlns:adec="http://schemas.microsoft.com/office/drawing/2017/decorative" val="1"/>
              </a:ext>
            </a:extLst>
          </p:cNvPr>
          <p:cNvSpPr txBox="1">
            <a:spLocks/>
          </p:cNvSpPr>
          <p:nvPr/>
        </p:nvSpPr>
        <p:spPr>
          <a:xfrm>
            <a:off x="312109" y="3799296"/>
            <a:ext cx="2952750" cy="1811083"/>
          </a:xfrm>
          <a:prstGeom prst="roundRect">
            <a:avLst>
              <a:gd name="adj" fmla="val 5000"/>
            </a:avLst>
          </a:prstGeom>
          <a:solidFill>
            <a:schemeClr val="bg1">
              <a:lumMod val="95000"/>
            </a:schemeClr>
          </a:solidFill>
          <a:effectLst>
            <a:outerShdw blurRad="38100" algn="ctr" rotWithShape="0">
              <a:prstClr val="black">
                <a:alpha val="11000"/>
              </a:prstClr>
            </a:outerShdw>
          </a:effectLst>
        </p:spPr>
        <p:txBody>
          <a:bodyPr wrap="square" lIns="80682" tIns="40341" rIns="80682" bIns="40341" anchor="t">
            <a:noAutofit/>
          </a:bodyPr>
          <a:lstStyle/>
          <a:p>
            <a:pPr marL="0" marR="0" lvl="0" indent="0" algn="l" defTabSz="806867" rtl="0" eaLnBrk="1" fontAlgn="auto" latinLnBrk="0" hangingPunct="1">
              <a:lnSpc>
                <a:spcPct val="100000"/>
              </a:lnSpc>
              <a:spcBef>
                <a:spcPts val="100"/>
              </a:spcBef>
              <a:spcAft>
                <a:spcPts val="100"/>
              </a:spcAft>
              <a:buClrTx/>
              <a:buSzTx/>
              <a:buFontTx/>
              <a:buNone/>
              <a:tabLst/>
              <a:defRPr/>
            </a:pPr>
            <a:r>
              <a:rPr kumimoji="0" lang="en-US" sz="1000" b="0" i="0" u="none" strike="noStrike" kern="0" cap="none" spc="0" normalizeH="0" baseline="0" noProof="0">
                <a:ln>
                  <a:noFill/>
                </a:ln>
                <a:solidFill>
                  <a:srgbClr val="0078D4">
                    <a:lumMod val="75000"/>
                  </a:srgbClr>
                </a:solidFill>
                <a:effectLst/>
                <a:uLnTx/>
                <a:uFillTx/>
                <a:latin typeface="Segoe UI Semibold"/>
                <a:ea typeface="+mn-lt"/>
                <a:cs typeface="Segoe UI"/>
              </a:rPr>
              <a:t>Your priorities</a:t>
            </a:r>
          </a:p>
          <a:p>
            <a:pPr marL="201295" marR="0" lvl="0" indent="-145415" algn="l" defTabSz="783178"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0" u="none" strike="noStrike" kern="1200" cap="none" spc="-30" normalizeH="0" baseline="0" noProof="0">
                <a:ln>
                  <a:noFill/>
                </a:ln>
                <a:solidFill>
                  <a:srgbClr val="000000"/>
                </a:solidFill>
                <a:effectLst/>
                <a:uLnTx/>
                <a:uFillTx/>
                <a:latin typeface="Segoe UI"/>
                <a:ea typeface="+mn-ea"/>
                <a:cs typeface="+mn-cs"/>
              </a:rPr>
              <a:t>Modernize your cloud governance and operations model</a:t>
            </a:r>
            <a:r>
              <a:rPr lang="en-US" sz="1000" spc="-30">
                <a:solidFill>
                  <a:srgbClr val="000000"/>
                </a:solidFill>
                <a:latin typeface="Segoe UI"/>
              </a:rPr>
              <a:t>.</a:t>
            </a:r>
            <a:endParaRPr lang="en-US" sz="1000" b="0" i="0" u="none" strike="noStrike" kern="1200" cap="none" spc="-30" normalizeH="0" baseline="0" noProof="0">
              <a:ln>
                <a:noFill/>
              </a:ln>
              <a:solidFill>
                <a:srgbClr val="000000"/>
              </a:solidFill>
              <a:effectLst/>
              <a:uLnTx/>
              <a:uFillTx/>
              <a:latin typeface="Segoe UI"/>
              <a:cs typeface="Segoe UI"/>
            </a:endParaRPr>
          </a:p>
          <a:p>
            <a:pPr marL="201295" marR="0" lvl="0" indent="-145415" algn="l" defTabSz="783178"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0" u="none" strike="noStrike" kern="1200" cap="none" spc="-30" normalizeH="0" baseline="0" noProof="0">
                <a:ln>
                  <a:noFill/>
                </a:ln>
                <a:solidFill>
                  <a:srgbClr val="000000"/>
                </a:solidFill>
                <a:effectLst/>
                <a:uLnTx/>
                <a:uFillTx/>
                <a:latin typeface="Segoe UI"/>
                <a:ea typeface="+mn-ea"/>
                <a:cs typeface="+mn-cs"/>
              </a:rPr>
              <a:t>Increase overall transparency and control to help drive business value and innovation</a:t>
            </a:r>
            <a:r>
              <a:rPr lang="en-US" sz="1000" spc="-30">
                <a:solidFill>
                  <a:srgbClr val="000000"/>
                </a:solidFill>
                <a:latin typeface="Segoe UI"/>
              </a:rPr>
              <a:t>.</a:t>
            </a:r>
            <a:endParaRPr lang="en-US" sz="1000" b="0" i="0" u="none" strike="noStrike" kern="1200" cap="none" spc="-30" normalizeH="0" baseline="0" noProof="0">
              <a:ln>
                <a:noFill/>
              </a:ln>
              <a:solidFill>
                <a:srgbClr val="000000"/>
              </a:solidFill>
              <a:effectLst/>
              <a:uLnTx/>
              <a:uFillTx/>
              <a:latin typeface="Segoe UI"/>
              <a:cs typeface="Segoe UI"/>
            </a:endParaRPr>
          </a:p>
          <a:p>
            <a:pPr marL="201295" indent="-145415" defTabSz="783178">
              <a:spcBef>
                <a:spcPts val="100"/>
              </a:spcBef>
              <a:spcAft>
                <a:spcPts val="100"/>
              </a:spcAft>
              <a:buFont typeface="Arial" panose="020B0604020202020204" pitchFamily="34" charset="0"/>
              <a:buChar char="•"/>
              <a:defRPr/>
            </a:pPr>
            <a:r>
              <a:rPr kumimoji="0" lang="en-US" sz="1000" b="0" i="0" u="none" strike="noStrike" kern="1200" cap="none" spc="-30" normalizeH="0" baseline="0" noProof="0">
                <a:ln>
                  <a:noFill/>
                </a:ln>
                <a:solidFill>
                  <a:srgbClr val="000000"/>
                </a:solidFill>
                <a:effectLst/>
                <a:uLnTx/>
                <a:uFillTx/>
                <a:latin typeface="Segoe UI"/>
                <a:ea typeface="+mn-ea"/>
                <a:cs typeface="+mn-cs"/>
              </a:rPr>
              <a:t>Manage cloud consumption cost for</a:t>
            </a:r>
            <a:r>
              <a:rPr lang="en-US" sz="1000" spc="-30">
                <a:solidFill>
                  <a:srgbClr val="000000"/>
                </a:solidFill>
                <a:latin typeface="Segoe UI"/>
              </a:rPr>
              <a:t> </a:t>
            </a:r>
            <a:r>
              <a:rPr kumimoji="0" lang="en-US" sz="1000" b="0" i="0" u="none" strike="noStrike" kern="1200" cap="none" spc="-30" normalizeH="0" baseline="0" noProof="0">
                <a:ln>
                  <a:noFill/>
                </a:ln>
                <a:solidFill>
                  <a:srgbClr val="000000"/>
                </a:solidFill>
                <a:effectLst/>
                <a:uLnTx/>
                <a:uFillTx/>
                <a:latin typeface="Segoe UI"/>
                <a:ea typeface="+mn-ea"/>
                <a:cs typeface="+mn-cs"/>
              </a:rPr>
              <a:t> sustainability</a:t>
            </a:r>
            <a:r>
              <a:rPr lang="en-US" sz="1000" spc="-30">
                <a:solidFill>
                  <a:srgbClr val="000000"/>
                </a:solidFill>
                <a:latin typeface="Segoe UI"/>
              </a:rPr>
              <a:t>.</a:t>
            </a:r>
            <a:endParaRPr lang="en-US" sz="1000" b="0" i="0" u="none" strike="noStrike" kern="1200" cap="none" spc="-30" normalizeH="0" baseline="0" noProof="0">
              <a:ln>
                <a:noFill/>
              </a:ln>
              <a:solidFill>
                <a:srgbClr val="000000"/>
              </a:solidFill>
              <a:effectLst/>
              <a:uLnTx/>
              <a:uFillTx/>
              <a:latin typeface="Segoe UI"/>
              <a:cs typeface="Segoe UI"/>
            </a:endParaRPr>
          </a:p>
          <a:p>
            <a:pPr marL="201295" marR="0" lvl="0" indent="-145415" algn="l" defTabSz="783178"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0" u="none" strike="noStrike" kern="1200" cap="none" spc="-30" normalizeH="0" baseline="0" noProof="0">
                <a:ln>
                  <a:noFill/>
                </a:ln>
                <a:solidFill>
                  <a:srgbClr val="000000"/>
                </a:solidFill>
                <a:effectLst/>
                <a:uLnTx/>
                <a:uFillTx/>
                <a:latin typeface="Segoe UI"/>
                <a:ea typeface="+mn-ea"/>
                <a:cs typeface="+mn-cs"/>
              </a:rPr>
              <a:t>Alignment between IT, Business, and </a:t>
            </a:r>
            <a:br>
              <a:rPr kumimoji="0" lang="en-US" sz="1000" b="0" i="0" u="none" strike="noStrike" kern="1200" cap="none" spc="-30" normalizeH="0" baseline="0" noProof="0">
                <a:ln>
                  <a:noFill/>
                </a:ln>
                <a:solidFill>
                  <a:srgbClr val="000000"/>
                </a:solidFill>
                <a:effectLst/>
                <a:uLnTx/>
                <a:uFillTx/>
                <a:latin typeface="Segoe UI"/>
                <a:ea typeface="+mn-ea"/>
                <a:cs typeface="+mn-cs"/>
              </a:rPr>
            </a:br>
            <a:r>
              <a:rPr kumimoji="0" lang="en-US" sz="1000" b="0" i="0" u="none" strike="noStrike" kern="1200" cap="none" spc="-30" normalizeH="0" baseline="0" noProof="0">
                <a:ln>
                  <a:noFill/>
                </a:ln>
                <a:solidFill>
                  <a:srgbClr val="000000"/>
                </a:solidFill>
                <a:effectLst/>
                <a:uLnTx/>
                <a:uFillTx/>
                <a:latin typeface="Segoe UI"/>
                <a:ea typeface="+mn-ea"/>
                <a:cs typeface="+mn-cs"/>
              </a:rPr>
              <a:t>Finance teams</a:t>
            </a:r>
            <a:r>
              <a:rPr lang="en-US" sz="1000" spc="-30">
                <a:solidFill>
                  <a:srgbClr val="000000"/>
                </a:solidFill>
                <a:latin typeface="Segoe UI"/>
              </a:rPr>
              <a:t>.</a:t>
            </a:r>
            <a:endParaRPr lang="en-US" sz="1000" b="0" i="0" u="none" strike="noStrike" kern="1200" cap="none" spc="-30" normalizeH="0" baseline="0" noProof="0">
              <a:ln>
                <a:noFill/>
              </a:ln>
              <a:solidFill>
                <a:srgbClr val="000000"/>
              </a:solidFill>
              <a:effectLst/>
              <a:uLnTx/>
              <a:uFillTx/>
              <a:latin typeface="Segoe UI"/>
              <a:cs typeface="Segoe UI"/>
            </a:endParaRPr>
          </a:p>
        </p:txBody>
      </p:sp>
      <p:sp>
        <p:nvSpPr>
          <p:cNvPr id="32" name="Freeform: Shape 42">
            <a:extLst>
              <a:ext uri="{FF2B5EF4-FFF2-40B4-BE49-F238E27FC236}">
                <a16:creationId xmlns:a16="http://schemas.microsoft.com/office/drawing/2014/main" id="{DEB1C9BA-914B-0782-4147-48B4D02F7401}"/>
              </a:ext>
              <a:ext uri="{C183D7F6-B498-43B3-948B-1728B52AA6E4}">
                <adec:decorative xmlns:adec="http://schemas.microsoft.com/office/drawing/2017/decorative" val="1"/>
              </a:ext>
            </a:extLst>
          </p:cNvPr>
          <p:cNvSpPr>
            <a:spLocks/>
          </p:cNvSpPr>
          <p:nvPr/>
        </p:nvSpPr>
        <p:spPr bwMode="auto">
          <a:xfrm>
            <a:off x="3429000" y="3800219"/>
            <a:ext cx="3124200" cy="1797696"/>
          </a:xfrm>
          <a:prstGeom prst="roundRect">
            <a:avLst>
              <a:gd name="adj" fmla="val 5000"/>
            </a:avLst>
          </a:prstGeom>
          <a:solidFill>
            <a:schemeClr val="bg1">
              <a:lumMod val="95000"/>
            </a:schemeClr>
          </a:solidFill>
          <a:ln w="6350">
            <a:noFill/>
            <a:headEnd type="none" w="med" len="med"/>
            <a:tailEnd type="none" w="med" len="med"/>
          </a:ln>
          <a:effectLst>
            <a:outerShdw blurRad="38100" algn="ctr"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0682" tIns="40341" rIns="80682" bIns="40341" numCol="1" spcCol="0" rtlCol="0" fromWordArt="0" anchor="t" anchorCtr="0" forceAA="0" compatLnSpc="1">
            <a:prstTxWarp prst="textNoShape">
              <a:avLst/>
            </a:prstTxWarp>
            <a:noAutofit/>
          </a:bodyPr>
          <a:lstStyle/>
          <a:p>
            <a:pPr marL="0" marR="0" lvl="0" indent="0" algn="l" defTabSz="806867" rtl="0" eaLnBrk="1" fontAlgn="auto" latinLnBrk="0" hangingPunct="1">
              <a:lnSpc>
                <a:spcPct val="100000"/>
              </a:lnSpc>
              <a:spcBef>
                <a:spcPts val="100"/>
              </a:spcBef>
              <a:spcAft>
                <a:spcPts val="100"/>
              </a:spcAft>
              <a:buClrTx/>
              <a:buSzTx/>
              <a:buFontTx/>
              <a:buNone/>
              <a:tabLst/>
              <a:defRPr/>
            </a:pPr>
            <a:r>
              <a:rPr kumimoji="0" lang="en-US" sz="1000" b="0" i="0" u="none" strike="noStrike" kern="0" cap="none" spc="0" normalizeH="0" baseline="0" noProof="0">
                <a:ln>
                  <a:noFill/>
                </a:ln>
                <a:solidFill>
                  <a:srgbClr val="0078D4">
                    <a:lumMod val="75000"/>
                  </a:srgbClr>
                </a:solidFill>
                <a:effectLst/>
                <a:uLnTx/>
                <a:uFillTx/>
                <a:latin typeface="Segoe UI Semibold"/>
                <a:ea typeface="+mn-lt"/>
                <a:cs typeface="Segoe UI"/>
              </a:rPr>
              <a:t>Outcomes we deliver</a:t>
            </a:r>
          </a:p>
          <a:p>
            <a:pPr marL="201295" marR="0" lvl="0" indent="-145415" algn="l" defTabSz="783178"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Segoe UI"/>
                <a:ea typeface="+mn-lt"/>
                <a:cs typeface="Segoe UI"/>
              </a:rPr>
              <a:t>Training to increasing the cloud financial management maturity of your organization</a:t>
            </a:r>
            <a:r>
              <a:rPr lang="en-US" sz="1000" kern="0">
                <a:solidFill>
                  <a:srgbClr val="000000"/>
                </a:solidFill>
                <a:latin typeface="Segoe UI"/>
                <a:ea typeface="+mn-lt"/>
                <a:cs typeface="Segoe UI"/>
              </a:rPr>
              <a:t>.</a:t>
            </a:r>
            <a:endParaRPr lang="en-US" sz="1000" b="0" i="0" u="none" strike="noStrike" kern="0" cap="none" spc="0" normalizeH="0" baseline="0" noProof="0">
              <a:ln>
                <a:noFill/>
              </a:ln>
              <a:solidFill>
                <a:srgbClr val="000000"/>
              </a:solidFill>
              <a:effectLst/>
              <a:uLnTx/>
              <a:uFillTx/>
              <a:latin typeface="Segoe UI"/>
              <a:ea typeface="+mn-lt"/>
              <a:cs typeface="Segoe UI"/>
            </a:endParaRPr>
          </a:p>
          <a:p>
            <a:pPr marL="201295" marR="0" lvl="0" indent="-145415" algn="l" defTabSz="783178"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Segoe UI"/>
                <a:ea typeface="+mn-lt"/>
                <a:cs typeface="Segoe UI"/>
              </a:rPr>
              <a:t>Guidance on cost transparency and real-time financial management reporting</a:t>
            </a:r>
            <a:r>
              <a:rPr lang="en-US" sz="1000" kern="0">
                <a:solidFill>
                  <a:srgbClr val="000000"/>
                </a:solidFill>
                <a:latin typeface="Segoe UI"/>
                <a:ea typeface="+mn-lt"/>
                <a:cs typeface="Segoe UI"/>
              </a:rPr>
              <a:t>.</a:t>
            </a:r>
            <a:endParaRPr lang="en-US" sz="1000" b="0" i="0" u="none" strike="noStrike" kern="0" cap="none" spc="0" normalizeH="0" baseline="0" noProof="0">
              <a:ln>
                <a:noFill/>
              </a:ln>
              <a:solidFill>
                <a:srgbClr val="000000"/>
              </a:solidFill>
              <a:effectLst/>
              <a:uLnTx/>
              <a:uFillTx/>
              <a:latin typeface="Segoe UI"/>
              <a:ea typeface="+mn-lt"/>
              <a:cs typeface="Segoe UI"/>
            </a:endParaRPr>
          </a:p>
          <a:p>
            <a:pPr marL="201295" marR="0" lvl="0" indent="-145415" algn="l" defTabSz="783178"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Segoe UI"/>
                <a:ea typeface="+mn-lt"/>
                <a:cs typeface="Segoe UI"/>
              </a:rPr>
              <a:t>Automation of workflows and intelligent tools to orchestration of processes</a:t>
            </a:r>
            <a:r>
              <a:rPr lang="en-US" sz="1000" kern="0">
                <a:solidFill>
                  <a:srgbClr val="000000"/>
                </a:solidFill>
                <a:latin typeface="Segoe UI"/>
                <a:ea typeface="+mn-lt"/>
                <a:cs typeface="Segoe UI"/>
              </a:rPr>
              <a:t>.</a:t>
            </a:r>
            <a:endParaRPr lang="en-US" sz="1000" b="0" i="0" u="none" strike="noStrike" kern="0" cap="none" spc="0" normalizeH="0" baseline="0" noProof="0">
              <a:ln>
                <a:noFill/>
              </a:ln>
              <a:solidFill>
                <a:srgbClr val="000000"/>
              </a:solidFill>
              <a:effectLst/>
              <a:uLnTx/>
              <a:uFillTx/>
              <a:latin typeface="Segoe UI"/>
              <a:ea typeface="+mn-lt"/>
              <a:cs typeface="Segoe UI"/>
            </a:endParaRPr>
          </a:p>
          <a:p>
            <a:pPr marL="201295" marR="0" lvl="0" indent="-145415" algn="l" defTabSz="783178"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Segoe UI"/>
                <a:ea typeface="+mn-lt"/>
                <a:cs typeface="Segoe UI"/>
              </a:rPr>
              <a:t>Implementation of key FinOps processes to streamline operations across teams</a:t>
            </a:r>
            <a:r>
              <a:rPr lang="en-US" sz="1000" kern="0">
                <a:solidFill>
                  <a:srgbClr val="000000"/>
                </a:solidFill>
                <a:latin typeface="Segoe UI"/>
                <a:ea typeface="+mn-lt"/>
                <a:cs typeface="Segoe UI"/>
              </a:rPr>
              <a:t>.</a:t>
            </a:r>
            <a:endParaRPr lang="en-US" sz="1000" b="0" i="0" u="none" strike="noStrike" kern="0" cap="none" spc="0" normalizeH="0" baseline="0" noProof="0">
              <a:ln>
                <a:noFill/>
              </a:ln>
              <a:solidFill>
                <a:srgbClr val="000000"/>
              </a:solidFill>
              <a:effectLst/>
              <a:uLnTx/>
              <a:uFillTx/>
              <a:latin typeface="Segoe UI"/>
              <a:ea typeface="+mn-lt"/>
              <a:cs typeface="Segoe UI"/>
            </a:endParaRPr>
          </a:p>
        </p:txBody>
      </p:sp>
      <p:sp>
        <p:nvSpPr>
          <p:cNvPr id="65" name="Rectangle: Rounded Corners 64">
            <a:extLst>
              <a:ext uri="{FF2B5EF4-FFF2-40B4-BE49-F238E27FC236}">
                <a16:creationId xmlns:a16="http://schemas.microsoft.com/office/drawing/2014/main" id="{4342999F-FAC0-1EE1-3EE3-4B363AEBEE4C}"/>
              </a:ext>
              <a:ext uri="{C183D7F6-B498-43B3-948B-1728B52AA6E4}">
                <adec:decorative xmlns:adec="http://schemas.microsoft.com/office/drawing/2017/decorative" val="1"/>
              </a:ext>
            </a:extLst>
          </p:cNvPr>
          <p:cNvSpPr/>
          <p:nvPr/>
        </p:nvSpPr>
        <p:spPr>
          <a:xfrm>
            <a:off x="294157" y="5744269"/>
            <a:ext cx="6259044" cy="258551"/>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50590" tIns="78309" rIns="78309" bIns="78309" rtlCol="0" anchor="ctr"/>
          <a:lstStyle/>
          <a:p>
            <a:pPr marL="0" marR="0" lvl="0" indent="0" algn="l" defTabSz="391588"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latin typeface="Segoe UI Semibold"/>
                <a:ea typeface="+mn-lt"/>
                <a:cs typeface="Segoe UI"/>
              </a:rPr>
              <a:t>What your Designated Engineering package could look like</a:t>
            </a:r>
          </a:p>
        </p:txBody>
      </p:sp>
      <p:sp>
        <p:nvSpPr>
          <p:cNvPr id="69" name="Rectangle 68">
            <a:extLst>
              <a:ext uri="{FF2B5EF4-FFF2-40B4-BE49-F238E27FC236}">
                <a16:creationId xmlns:a16="http://schemas.microsoft.com/office/drawing/2014/main" id="{C3F94E53-AA9B-52C4-21AD-9C5443EA25A6}"/>
              </a:ext>
              <a:ext uri="{C183D7F6-B498-43B3-948B-1728B52AA6E4}">
                <adec:decorative xmlns:adec="http://schemas.microsoft.com/office/drawing/2017/decorative" val="1"/>
              </a:ext>
            </a:extLst>
          </p:cNvPr>
          <p:cNvSpPr/>
          <p:nvPr/>
        </p:nvSpPr>
        <p:spPr>
          <a:xfrm>
            <a:off x="320467" y="6013315"/>
            <a:ext cx="6259041" cy="615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355989" rtl="0" eaLnBrk="1" fontAlgn="auto" latinLnBrk="0" hangingPunct="1">
              <a:lnSpc>
                <a:spcPct val="100000"/>
              </a:lnSpc>
              <a:spcBef>
                <a:spcPts val="176"/>
              </a:spcBef>
              <a:spcAft>
                <a:spcPts val="176"/>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ea typeface="+mn-lt"/>
                <a:cs typeface="Segoe UI"/>
              </a:rPr>
              <a:t>Your account team will design a specific program of services tailored to your organization’s business and technology goals. If you’re still defining your technology needs, our experts will work with you to assess your strategy and tailor an engagement for your organization. Here’s what a sample </a:t>
            </a:r>
            <a:r>
              <a:rPr kumimoji="0" lang="en-US" sz="1000" b="0" i="0" u="none" strike="noStrike" kern="0" cap="none" spc="0" normalizeH="0" baseline="0" noProof="0">
                <a:ln>
                  <a:noFill/>
                </a:ln>
                <a:solidFill>
                  <a:schemeClr val="tx2"/>
                </a:solidFill>
                <a:effectLst/>
                <a:uLnTx/>
                <a:uFillTx/>
                <a:latin typeface="+mj-lt"/>
                <a:ea typeface="+mn-lt"/>
                <a:cs typeface="Segoe UI"/>
              </a:rPr>
              <a:t>Designated Engineering for FinOps on Azure </a:t>
            </a:r>
            <a:r>
              <a:rPr kumimoji="0" lang="en-US" sz="1000" b="0" i="0" u="none" strike="noStrike" kern="0" cap="none" spc="0" normalizeH="0" baseline="0" noProof="0">
                <a:ln>
                  <a:noFill/>
                </a:ln>
                <a:solidFill>
                  <a:srgbClr val="000000"/>
                </a:solidFill>
                <a:effectLst/>
                <a:uLnTx/>
                <a:uFillTx/>
                <a:latin typeface="Segoe UI"/>
                <a:ea typeface="+mn-lt"/>
                <a:cs typeface="Segoe UI"/>
              </a:rPr>
              <a:t>could look like:</a:t>
            </a:r>
          </a:p>
        </p:txBody>
      </p:sp>
      <p:grpSp>
        <p:nvGrpSpPr>
          <p:cNvPr id="62" name="Group 61">
            <a:extLst>
              <a:ext uri="{FF2B5EF4-FFF2-40B4-BE49-F238E27FC236}">
                <a16:creationId xmlns:a16="http://schemas.microsoft.com/office/drawing/2014/main" id="{FE348A07-5D2E-B22F-D5BB-BE7942217F6C}"/>
              </a:ext>
              <a:ext uri="{C183D7F6-B498-43B3-948B-1728B52AA6E4}">
                <adec:decorative xmlns:adec="http://schemas.microsoft.com/office/drawing/2017/decorative" val="1"/>
              </a:ext>
            </a:extLst>
          </p:cNvPr>
          <p:cNvGrpSpPr>
            <a:grpSpLocks/>
          </p:cNvGrpSpPr>
          <p:nvPr/>
        </p:nvGrpSpPr>
        <p:grpSpPr>
          <a:xfrm>
            <a:off x="318086" y="3476396"/>
            <a:ext cx="199816" cy="194037"/>
            <a:chOff x="360497" y="6262740"/>
            <a:chExt cx="226458" cy="219909"/>
          </a:xfrm>
        </p:grpSpPr>
        <p:sp>
          <p:nvSpPr>
            <p:cNvPr id="63" name="Oval 62">
              <a:extLst>
                <a:ext uri="{FF2B5EF4-FFF2-40B4-BE49-F238E27FC236}">
                  <a16:creationId xmlns:a16="http://schemas.microsoft.com/office/drawing/2014/main" id="{1B2FB113-817E-BDCB-8602-B8C4492DDF5C}"/>
                </a:ext>
              </a:extLst>
            </p:cNvPr>
            <p:cNvSpPr/>
            <p:nvPr/>
          </p:nvSpPr>
          <p:spPr>
            <a:xfrm>
              <a:off x="360497" y="6262740"/>
              <a:ext cx="226458" cy="2199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91588" rtl="0" eaLnBrk="1" fontAlgn="auto" latinLnBrk="0" hangingPunct="1">
                <a:lnSpc>
                  <a:spcPct val="100000"/>
                </a:lnSpc>
                <a:spcBef>
                  <a:spcPts val="0"/>
                </a:spcBef>
                <a:spcAft>
                  <a:spcPts val="0"/>
                </a:spcAft>
                <a:buClrTx/>
                <a:buSzTx/>
                <a:buFontTx/>
                <a:buNone/>
                <a:tabLst/>
                <a:defRPr/>
              </a:pPr>
              <a:endParaRPr kumimoji="0" lang="en-US" sz="1235" b="0" i="0" u="none" strike="noStrike" kern="1200" cap="none" spc="0" normalizeH="0" baseline="0" noProof="0">
                <a:ln>
                  <a:noFill/>
                </a:ln>
                <a:solidFill>
                  <a:srgbClr val="FFFFFF"/>
                </a:solidFill>
                <a:effectLst/>
                <a:uLnTx/>
                <a:uFillTx/>
                <a:latin typeface="Segoe UI"/>
                <a:ea typeface="+mn-ea"/>
                <a:cs typeface="+mn-cs"/>
              </a:endParaRPr>
            </a:p>
          </p:txBody>
        </p:sp>
        <p:sp>
          <p:nvSpPr>
            <p:cNvPr id="64" name="Processing_E9F5" title="Icon of two interlocked gears">
              <a:extLst>
                <a:ext uri="{FF2B5EF4-FFF2-40B4-BE49-F238E27FC236}">
                  <a16:creationId xmlns:a16="http://schemas.microsoft.com/office/drawing/2014/main" id="{DAFF2C8C-1AC1-AE55-19B2-7DE64297440B}"/>
                </a:ext>
              </a:extLst>
            </p:cNvPr>
            <p:cNvSpPr>
              <a:spLocks noChangeAspect="1" noEditPoints="1"/>
            </p:cNvSpPr>
            <p:nvPr/>
          </p:nvSpPr>
          <p:spPr bwMode="auto">
            <a:xfrm>
              <a:off x="398140" y="6308769"/>
              <a:ext cx="151173" cy="127850"/>
            </a:xfrm>
            <a:custGeom>
              <a:avLst/>
              <a:gdLst>
                <a:gd name="T0" fmla="*/ 924 w 3867"/>
                <a:gd name="T1" fmla="*/ 299 h 3367"/>
                <a:gd name="T2" fmla="*/ 1549 w 3867"/>
                <a:gd name="T3" fmla="*/ 924 h 3367"/>
                <a:gd name="T4" fmla="*/ 924 w 3867"/>
                <a:gd name="T5" fmla="*/ 1549 h 3367"/>
                <a:gd name="T6" fmla="*/ 299 w 3867"/>
                <a:gd name="T7" fmla="*/ 924 h 3367"/>
                <a:gd name="T8" fmla="*/ 924 w 3867"/>
                <a:gd name="T9" fmla="*/ 299 h 3367"/>
                <a:gd name="T10" fmla="*/ 1163 w 3867"/>
                <a:gd name="T11" fmla="*/ 347 h 3367"/>
                <a:gd name="T12" fmla="*/ 1307 w 3867"/>
                <a:gd name="T13" fmla="*/ 0 h 3367"/>
                <a:gd name="T14" fmla="*/ 1501 w 3867"/>
                <a:gd name="T15" fmla="*/ 685 h 3367"/>
                <a:gd name="T16" fmla="*/ 1848 w 3867"/>
                <a:gd name="T17" fmla="*/ 541 h 3367"/>
                <a:gd name="T18" fmla="*/ 1501 w 3867"/>
                <a:gd name="T19" fmla="*/ 1163 h 3367"/>
                <a:gd name="T20" fmla="*/ 1848 w 3867"/>
                <a:gd name="T21" fmla="*/ 1307 h 3367"/>
                <a:gd name="T22" fmla="*/ 1163 w 3867"/>
                <a:gd name="T23" fmla="*/ 1501 h 3367"/>
                <a:gd name="T24" fmla="*/ 1307 w 3867"/>
                <a:gd name="T25" fmla="*/ 1848 h 3367"/>
                <a:gd name="T26" fmla="*/ 685 w 3867"/>
                <a:gd name="T27" fmla="*/ 1501 h 3367"/>
                <a:gd name="T28" fmla="*/ 541 w 3867"/>
                <a:gd name="T29" fmla="*/ 1848 h 3367"/>
                <a:gd name="T30" fmla="*/ 347 w 3867"/>
                <a:gd name="T31" fmla="*/ 1163 h 3367"/>
                <a:gd name="T32" fmla="*/ 0 w 3867"/>
                <a:gd name="T33" fmla="*/ 1307 h 3367"/>
                <a:gd name="T34" fmla="*/ 0 w 3867"/>
                <a:gd name="T35" fmla="*/ 541 h 3367"/>
                <a:gd name="T36" fmla="*/ 347 w 3867"/>
                <a:gd name="T37" fmla="*/ 685 h 3367"/>
                <a:gd name="T38" fmla="*/ 685 w 3867"/>
                <a:gd name="T39" fmla="*/ 347 h 3367"/>
                <a:gd name="T40" fmla="*/ 541 w 3867"/>
                <a:gd name="T41" fmla="*/ 0 h 3367"/>
                <a:gd name="T42" fmla="*/ 2049 w 3867"/>
                <a:gd name="T43" fmla="*/ 2299 h 3367"/>
                <a:gd name="T44" fmla="*/ 2799 w 3867"/>
                <a:gd name="T45" fmla="*/ 3049 h 3367"/>
                <a:gd name="T46" fmla="*/ 3549 w 3867"/>
                <a:gd name="T47" fmla="*/ 2299 h 3367"/>
                <a:gd name="T48" fmla="*/ 2799 w 3867"/>
                <a:gd name="T49" fmla="*/ 1549 h 3367"/>
                <a:gd name="T50" fmla="*/ 2049 w 3867"/>
                <a:gd name="T51" fmla="*/ 2299 h 3367"/>
                <a:gd name="T52" fmla="*/ 2357 w 3867"/>
                <a:gd name="T53" fmla="*/ 1231 h 3367"/>
                <a:gd name="T54" fmla="*/ 2512 w 3867"/>
                <a:gd name="T55" fmla="*/ 1606 h 3367"/>
                <a:gd name="T56" fmla="*/ 2106 w 3867"/>
                <a:gd name="T57" fmla="*/ 2012 h 3367"/>
                <a:gd name="T58" fmla="*/ 1731 w 3867"/>
                <a:gd name="T59" fmla="*/ 1856 h 3367"/>
                <a:gd name="T60" fmla="*/ 2106 w 3867"/>
                <a:gd name="T61" fmla="*/ 2586 h 3367"/>
                <a:gd name="T62" fmla="*/ 1731 w 3867"/>
                <a:gd name="T63" fmla="*/ 2741 h 3367"/>
                <a:gd name="T64" fmla="*/ 2512 w 3867"/>
                <a:gd name="T65" fmla="*/ 2992 h 3367"/>
                <a:gd name="T66" fmla="*/ 2357 w 3867"/>
                <a:gd name="T67" fmla="*/ 3367 h 3367"/>
                <a:gd name="T68" fmla="*/ 3086 w 3867"/>
                <a:gd name="T69" fmla="*/ 2992 h 3367"/>
                <a:gd name="T70" fmla="*/ 3241 w 3867"/>
                <a:gd name="T71" fmla="*/ 3367 h 3367"/>
                <a:gd name="T72" fmla="*/ 3492 w 3867"/>
                <a:gd name="T73" fmla="*/ 2586 h 3367"/>
                <a:gd name="T74" fmla="*/ 3867 w 3867"/>
                <a:gd name="T75" fmla="*/ 2741 h 3367"/>
                <a:gd name="T76" fmla="*/ 3492 w 3867"/>
                <a:gd name="T77" fmla="*/ 2012 h 3367"/>
                <a:gd name="T78" fmla="*/ 3867 w 3867"/>
                <a:gd name="T79" fmla="*/ 1856 h 3367"/>
                <a:gd name="T80" fmla="*/ 3086 w 3867"/>
                <a:gd name="T81" fmla="*/ 1606 h 3367"/>
                <a:gd name="T82" fmla="*/ 3241 w 3867"/>
                <a:gd name="T83" fmla="*/ 1231 h 3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67" h="3367">
                  <a:moveTo>
                    <a:pt x="924" y="299"/>
                  </a:moveTo>
                  <a:cubicBezTo>
                    <a:pt x="1269" y="299"/>
                    <a:pt x="1549" y="579"/>
                    <a:pt x="1549" y="924"/>
                  </a:cubicBezTo>
                  <a:cubicBezTo>
                    <a:pt x="1549" y="1269"/>
                    <a:pt x="1269" y="1549"/>
                    <a:pt x="924" y="1549"/>
                  </a:cubicBezTo>
                  <a:cubicBezTo>
                    <a:pt x="579" y="1549"/>
                    <a:pt x="299" y="1269"/>
                    <a:pt x="299" y="924"/>
                  </a:cubicBezTo>
                  <a:cubicBezTo>
                    <a:pt x="299" y="579"/>
                    <a:pt x="579" y="299"/>
                    <a:pt x="924" y="299"/>
                  </a:cubicBezTo>
                  <a:close/>
                  <a:moveTo>
                    <a:pt x="1163" y="347"/>
                  </a:moveTo>
                  <a:cubicBezTo>
                    <a:pt x="1307" y="0"/>
                    <a:pt x="1307" y="0"/>
                    <a:pt x="1307" y="0"/>
                  </a:cubicBezTo>
                  <a:moveTo>
                    <a:pt x="1501" y="685"/>
                  </a:moveTo>
                  <a:cubicBezTo>
                    <a:pt x="1848" y="541"/>
                    <a:pt x="1848" y="541"/>
                    <a:pt x="1848" y="541"/>
                  </a:cubicBezTo>
                  <a:moveTo>
                    <a:pt x="1501" y="1163"/>
                  </a:moveTo>
                  <a:cubicBezTo>
                    <a:pt x="1848" y="1307"/>
                    <a:pt x="1848" y="1307"/>
                    <a:pt x="1848" y="1307"/>
                  </a:cubicBezTo>
                  <a:moveTo>
                    <a:pt x="1163" y="1501"/>
                  </a:moveTo>
                  <a:cubicBezTo>
                    <a:pt x="1307" y="1848"/>
                    <a:pt x="1307" y="1848"/>
                    <a:pt x="1307" y="1848"/>
                  </a:cubicBezTo>
                  <a:moveTo>
                    <a:pt x="685" y="1501"/>
                  </a:moveTo>
                  <a:cubicBezTo>
                    <a:pt x="541" y="1848"/>
                    <a:pt x="541" y="1848"/>
                    <a:pt x="541" y="1848"/>
                  </a:cubicBezTo>
                  <a:moveTo>
                    <a:pt x="347" y="1163"/>
                  </a:moveTo>
                  <a:cubicBezTo>
                    <a:pt x="0" y="1307"/>
                    <a:pt x="0" y="1307"/>
                    <a:pt x="0" y="1307"/>
                  </a:cubicBezTo>
                  <a:moveTo>
                    <a:pt x="0" y="541"/>
                  </a:moveTo>
                  <a:cubicBezTo>
                    <a:pt x="347" y="685"/>
                    <a:pt x="347" y="685"/>
                    <a:pt x="347" y="685"/>
                  </a:cubicBezTo>
                  <a:moveTo>
                    <a:pt x="685" y="347"/>
                  </a:moveTo>
                  <a:cubicBezTo>
                    <a:pt x="541" y="0"/>
                    <a:pt x="541" y="0"/>
                    <a:pt x="541" y="0"/>
                  </a:cubicBezTo>
                  <a:moveTo>
                    <a:pt x="2049" y="2299"/>
                  </a:moveTo>
                  <a:cubicBezTo>
                    <a:pt x="2049" y="2713"/>
                    <a:pt x="2385" y="3049"/>
                    <a:pt x="2799" y="3049"/>
                  </a:cubicBezTo>
                  <a:cubicBezTo>
                    <a:pt x="3213" y="3049"/>
                    <a:pt x="3549" y="2713"/>
                    <a:pt x="3549" y="2299"/>
                  </a:cubicBezTo>
                  <a:cubicBezTo>
                    <a:pt x="3549" y="1885"/>
                    <a:pt x="3213" y="1549"/>
                    <a:pt x="2799" y="1549"/>
                  </a:cubicBezTo>
                  <a:cubicBezTo>
                    <a:pt x="2385" y="1549"/>
                    <a:pt x="2049" y="1885"/>
                    <a:pt x="2049" y="2299"/>
                  </a:cubicBezTo>
                  <a:close/>
                  <a:moveTo>
                    <a:pt x="2357" y="1231"/>
                  </a:moveTo>
                  <a:cubicBezTo>
                    <a:pt x="2512" y="1606"/>
                    <a:pt x="2512" y="1606"/>
                    <a:pt x="2512" y="1606"/>
                  </a:cubicBezTo>
                  <a:moveTo>
                    <a:pt x="2106" y="2012"/>
                  </a:moveTo>
                  <a:cubicBezTo>
                    <a:pt x="1731" y="1856"/>
                    <a:pt x="1731" y="1856"/>
                    <a:pt x="1731" y="1856"/>
                  </a:cubicBezTo>
                  <a:moveTo>
                    <a:pt x="2106" y="2586"/>
                  </a:moveTo>
                  <a:cubicBezTo>
                    <a:pt x="1731" y="2741"/>
                    <a:pt x="1731" y="2741"/>
                    <a:pt x="1731" y="2741"/>
                  </a:cubicBezTo>
                  <a:moveTo>
                    <a:pt x="2512" y="2992"/>
                  </a:moveTo>
                  <a:cubicBezTo>
                    <a:pt x="2357" y="3367"/>
                    <a:pt x="2357" y="3367"/>
                    <a:pt x="2357" y="3367"/>
                  </a:cubicBezTo>
                  <a:moveTo>
                    <a:pt x="3086" y="2992"/>
                  </a:moveTo>
                  <a:cubicBezTo>
                    <a:pt x="3241" y="3367"/>
                    <a:pt x="3241" y="3367"/>
                    <a:pt x="3241" y="3367"/>
                  </a:cubicBezTo>
                  <a:moveTo>
                    <a:pt x="3492" y="2586"/>
                  </a:moveTo>
                  <a:cubicBezTo>
                    <a:pt x="3867" y="2741"/>
                    <a:pt x="3867" y="2741"/>
                    <a:pt x="3867" y="2741"/>
                  </a:cubicBezTo>
                  <a:moveTo>
                    <a:pt x="3492" y="2012"/>
                  </a:moveTo>
                  <a:cubicBezTo>
                    <a:pt x="3867" y="1856"/>
                    <a:pt x="3867" y="1856"/>
                    <a:pt x="3867" y="1856"/>
                  </a:cubicBezTo>
                  <a:moveTo>
                    <a:pt x="3086" y="1606"/>
                  </a:moveTo>
                  <a:cubicBezTo>
                    <a:pt x="3241" y="1231"/>
                    <a:pt x="3241" y="1231"/>
                    <a:pt x="3241" y="1231"/>
                  </a:cubicBezTo>
                </a:path>
              </a:pathLst>
            </a:custGeom>
            <a:noFill/>
            <a:ln w="635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71190" tIns="35595" rIns="71190" bIns="35595" numCol="1" anchor="t" anchorCtr="0" compatLnSpc="1">
              <a:prstTxWarp prst="textNoShape">
                <a:avLst/>
              </a:prstTxWarp>
            </a:bodyPr>
            <a:lstStyle/>
            <a:p>
              <a:pPr marL="0" marR="0" lvl="0" indent="0" algn="l" defTabSz="355989" rtl="0" eaLnBrk="1" fontAlgn="auto" latinLnBrk="0" hangingPunct="1">
                <a:lnSpc>
                  <a:spcPct val="100000"/>
                </a:lnSpc>
                <a:spcBef>
                  <a:spcPts val="0"/>
                </a:spcBef>
                <a:spcAft>
                  <a:spcPts val="0"/>
                </a:spcAft>
                <a:buClrTx/>
                <a:buSzTx/>
                <a:buFontTx/>
                <a:buNone/>
                <a:tabLst/>
                <a:defRPr/>
              </a:pPr>
              <a:endParaRPr kumimoji="0" lang="en-US" sz="1235"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83" name="Group 82">
            <a:extLst>
              <a:ext uri="{FF2B5EF4-FFF2-40B4-BE49-F238E27FC236}">
                <a16:creationId xmlns:a16="http://schemas.microsoft.com/office/drawing/2014/main" id="{E681D03E-8576-9607-50E2-B9328A6019A1}"/>
              </a:ext>
              <a:ext uri="{C183D7F6-B498-43B3-948B-1728B52AA6E4}">
                <adec:decorative xmlns:adec="http://schemas.microsoft.com/office/drawing/2017/decorative" val="1"/>
              </a:ext>
            </a:extLst>
          </p:cNvPr>
          <p:cNvGrpSpPr/>
          <p:nvPr/>
        </p:nvGrpSpPr>
        <p:grpSpPr>
          <a:xfrm>
            <a:off x="3207128" y="4410712"/>
            <a:ext cx="272294" cy="272294"/>
            <a:chOff x="3299392" y="4559700"/>
            <a:chExt cx="308600" cy="308600"/>
          </a:xfrm>
        </p:grpSpPr>
        <p:sp>
          <p:nvSpPr>
            <p:cNvPr id="84" name="Oval 83">
              <a:extLst>
                <a:ext uri="{FF2B5EF4-FFF2-40B4-BE49-F238E27FC236}">
                  <a16:creationId xmlns:a16="http://schemas.microsoft.com/office/drawing/2014/main" id="{A274C42D-BF8B-9DD5-D2E6-D9F8BB00371D}"/>
                </a:ext>
              </a:extLst>
            </p:cNvPr>
            <p:cNvSpPr/>
            <p:nvPr/>
          </p:nvSpPr>
          <p:spPr bwMode="auto">
            <a:xfrm>
              <a:off x="3299392" y="4559700"/>
              <a:ext cx="308600" cy="308600"/>
            </a:xfrm>
            <a:prstGeom prst="ellipse">
              <a:avLst/>
            </a:prstGeom>
            <a:solidFill>
              <a:schemeClr val="tx2"/>
            </a:solidFill>
            <a:ln w="3810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marL="0" marR="0" lvl="0" indent="0" algn="l" defTabSz="822813"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86" name="Group 85">
              <a:extLst>
                <a:ext uri="{FF2B5EF4-FFF2-40B4-BE49-F238E27FC236}">
                  <a16:creationId xmlns:a16="http://schemas.microsoft.com/office/drawing/2014/main" id="{BC70B82D-7D22-4447-EAB4-28BBCC9821A9}"/>
                </a:ext>
              </a:extLst>
            </p:cNvPr>
            <p:cNvGrpSpPr/>
            <p:nvPr/>
          </p:nvGrpSpPr>
          <p:grpSpPr>
            <a:xfrm>
              <a:off x="3381703" y="4634366"/>
              <a:ext cx="143979" cy="159269"/>
              <a:chOff x="3202873" y="6836318"/>
              <a:chExt cx="234276" cy="196588"/>
            </a:xfrm>
          </p:grpSpPr>
          <p:sp>
            <p:nvSpPr>
              <p:cNvPr id="96" name="Arrow: Chevron 95">
                <a:extLst>
                  <a:ext uri="{FF2B5EF4-FFF2-40B4-BE49-F238E27FC236}">
                    <a16:creationId xmlns:a16="http://schemas.microsoft.com/office/drawing/2014/main" id="{FE28AC08-E69A-0AF5-836D-87B2AAC2F599}"/>
                  </a:ext>
                </a:extLst>
              </p:cNvPr>
              <p:cNvSpPr/>
              <p:nvPr/>
            </p:nvSpPr>
            <p:spPr bwMode="auto">
              <a:xfrm>
                <a:off x="3240561" y="6836318"/>
                <a:ext cx="196588" cy="196588"/>
              </a:xfrm>
              <a:prstGeom prst="chevron">
                <a:avLst/>
              </a:pr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marL="0" marR="0" lvl="0" indent="0" algn="l" defTabSz="822813"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97" name="Arrow: Chevron 96">
                <a:extLst>
                  <a:ext uri="{FF2B5EF4-FFF2-40B4-BE49-F238E27FC236}">
                    <a16:creationId xmlns:a16="http://schemas.microsoft.com/office/drawing/2014/main" id="{F2536FD4-2749-DCDE-78D7-3FA687485D9C}"/>
                  </a:ext>
                </a:extLst>
              </p:cNvPr>
              <p:cNvSpPr/>
              <p:nvPr/>
            </p:nvSpPr>
            <p:spPr bwMode="auto">
              <a:xfrm>
                <a:off x="3202873" y="6866621"/>
                <a:ext cx="135982" cy="135982"/>
              </a:xfrm>
              <a:prstGeom prst="chevron">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marL="0" marR="0" lvl="0" indent="0" algn="l" defTabSz="822813"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grpSp>
      <p:sp>
        <p:nvSpPr>
          <p:cNvPr id="11" name="Rectangle 10">
            <a:extLst>
              <a:ext uri="{FF2B5EF4-FFF2-40B4-BE49-F238E27FC236}">
                <a16:creationId xmlns:a16="http://schemas.microsoft.com/office/drawing/2014/main" id="{AD1B4090-B8F2-46E3-DF91-2D3E2275BFF8}"/>
              </a:ext>
              <a:ext uri="{C183D7F6-B498-43B3-948B-1728B52AA6E4}">
                <adec:decorative xmlns:adec="http://schemas.microsoft.com/office/drawing/2017/decorative" val="1"/>
              </a:ext>
            </a:extLst>
          </p:cNvPr>
          <p:cNvSpPr/>
          <p:nvPr/>
        </p:nvSpPr>
        <p:spPr bwMode="auto">
          <a:xfrm>
            <a:off x="0" y="7202262"/>
            <a:ext cx="1172595" cy="1384321"/>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3" name="Arrow: Bent 32">
            <a:extLst>
              <a:ext uri="{FF2B5EF4-FFF2-40B4-BE49-F238E27FC236}">
                <a16:creationId xmlns:a16="http://schemas.microsoft.com/office/drawing/2014/main" id="{3291EB86-09DE-08A0-59D5-EC55725164A7}"/>
              </a:ext>
              <a:ext uri="{C183D7F6-B498-43B3-948B-1728B52AA6E4}">
                <adec:decorative xmlns:adec="http://schemas.microsoft.com/office/drawing/2017/decorative" val="1"/>
              </a:ext>
            </a:extLst>
          </p:cNvPr>
          <p:cNvSpPr>
            <a:spLocks/>
          </p:cNvSpPr>
          <p:nvPr/>
        </p:nvSpPr>
        <p:spPr bwMode="auto">
          <a:xfrm>
            <a:off x="304799" y="6767738"/>
            <a:ext cx="6259043" cy="1818846"/>
          </a:xfrm>
          <a:prstGeom prst="bentArrow">
            <a:avLst>
              <a:gd name="adj1" fmla="val 25000"/>
              <a:gd name="adj2" fmla="val 0"/>
              <a:gd name="adj3" fmla="val 25000"/>
              <a:gd name="adj4" fmla="val 2200"/>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marL="0" marR="0" lvl="0" indent="0" algn="l" defTabSz="822813"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04" name="TextBox 103">
            <a:extLst>
              <a:ext uri="{FF2B5EF4-FFF2-40B4-BE49-F238E27FC236}">
                <a16:creationId xmlns:a16="http://schemas.microsoft.com/office/drawing/2014/main" id="{A9015923-7EF8-7B93-F515-61E2C2F9EFE4}"/>
              </a:ext>
              <a:ext uri="{C183D7F6-B498-43B3-948B-1728B52AA6E4}">
                <adec:decorative xmlns:adec="http://schemas.microsoft.com/office/drawing/2017/decorative" val="1"/>
              </a:ext>
            </a:extLst>
          </p:cNvPr>
          <p:cNvSpPr txBox="1">
            <a:spLocks/>
          </p:cNvSpPr>
          <p:nvPr/>
        </p:nvSpPr>
        <p:spPr>
          <a:xfrm>
            <a:off x="379525" y="7330540"/>
            <a:ext cx="738985" cy="307777"/>
          </a:xfrm>
          <a:prstGeom prst="rect">
            <a:avLst/>
          </a:prstGeom>
          <a:noFill/>
        </p:spPr>
        <p:txBody>
          <a:bodyPr wrap="none" lIns="0" tIns="0" rIns="0" bIns="0">
            <a:spAutoFit/>
          </a:bodyPr>
          <a:lstStyle/>
          <a:p>
            <a:pPr marL="0" marR="0" lvl="0" indent="0" algn="l" defTabSz="40343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78D4"/>
                </a:solidFill>
                <a:effectLst/>
                <a:uLnTx/>
                <a:uFillTx/>
                <a:latin typeface="Segoe UI Semibold"/>
                <a:ea typeface="+mn-ea"/>
                <a:cs typeface="+mn-cs"/>
              </a:rPr>
              <a:t>Example </a:t>
            </a:r>
          </a:p>
          <a:p>
            <a:pPr marL="0" marR="0" lvl="0" indent="0" algn="l" defTabSz="40343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78D4"/>
                </a:solidFill>
                <a:effectLst/>
                <a:uLnTx/>
                <a:uFillTx/>
                <a:latin typeface="Segoe UI Semibold"/>
                <a:ea typeface="+mn-ea"/>
                <a:cs typeface="+mn-cs"/>
              </a:rPr>
              <a:t>engagement</a:t>
            </a:r>
            <a:endParaRPr kumimoji="0" lang="en-US" sz="1000" b="0" i="0" u="none" strike="noStrike" kern="1200" cap="none" spc="0" normalizeH="0" baseline="0" noProof="0">
              <a:ln>
                <a:noFill/>
              </a:ln>
              <a:solidFill>
                <a:srgbClr val="0078D4"/>
              </a:solidFill>
              <a:effectLst/>
              <a:uLnTx/>
              <a:uFillTx/>
              <a:latin typeface="Segoe UI"/>
              <a:ea typeface="+mn-ea"/>
              <a:cs typeface="+mn-cs"/>
            </a:endParaRPr>
          </a:p>
        </p:txBody>
      </p:sp>
      <p:sp>
        <p:nvSpPr>
          <p:cNvPr id="105" name="TextBox 104">
            <a:extLst>
              <a:ext uri="{FF2B5EF4-FFF2-40B4-BE49-F238E27FC236}">
                <a16:creationId xmlns:a16="http://schemas.microsoft.com/office/drawing/2014/main" id="{7574A5C5-52F3-33DF-6A8F-CBB8F3B57546}"/>
              </a:ext>
              <a:ext uri="{C183D7F6-B498-43B3-948B-1728B52AA6E4}">
                <adec:decorative xmlns:adec="http://schemas.microsoft.com/office/drawing/2017/decorative" val="1"/>
              </a:ext>
            </a:extLst>
          </p:cNvPr>
          <p:cNvSpPr txBox="1">
            <a:spLocks/>
          </p:cNvSpPr>
          <p:nvPr/>
        </p:nvSpPr>
        <p:spPr>
          <a:xfrm>
            <a:off x="377092" y="8069364"/>
            <a:ext cx="561051" cy="153888"/>
          </a:xfrm>
          <a:prstGeom prst="rect">
            <a:avLst/>
          </a:prstGeom>
          <a:noFill/>
        </p:spPr>
        <p:txBody>
          <a:bodyPr wrap="none" lIns="0" tIns="0" rIns="0" bIns="0">
            <a:spAutoFit/>
          </a:bodyPr>
          <a:lstStyle/>
          <a:p>
            <a:pPr marL="0" marR="0" lvl="0" indent="0" algn="l" defTabSz="40343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78D4"/>
                </a:solidFill>
                <a:effectLst/>
                <a:uLnTx/>
                <a:uFillTx/>
                <a:latin typeface="Segoe UI Semibold"/>
                <a:ea typeface="+mn-ea"/>
                <a:cs typeface="+mn-cs"/>
              </a:rPr>
              <a:t>Key focus</a:t>
            </a:r>
            <a:endParaRPr kumimoji="0" lang="en-US" sz="1000" b="0" i="0" u="none" strike="noStrike" kern="1200" cap="none" spc="0" normalizeH="0" baseline="0" noProof="0">
              <a:ln>
                <a:noFill/>
              </a:ln>
              <a:solidFill>
                <a:srgbClr val="0078D4"/>
              </a:solidFill>
              <a:effectLst/>
              <a:uLnTx/>
              <a:uFillTx/>
              <a:latin typeface="Segoe UI"/>
              <a:ea typeface="+mn-ea"/>
              <a:cs typeface="+mn-cs"/>
            </a:endParaRPr>
          </a:p>
        </p:txBody>
      </p:sp>
      <p:sp>
        <p:nvSpPr>
          <p:cNvPr id="71" name="Rectangle 70">
            <a:extLst>
              <a:ext uri="{FF2B5EF4-FFF2-40B4-BE49-F238E27FC236}">
                <a16:creationId xmlns:a16="http://schemas.microsoft.com/office/drawing/2014/main" id="{9B6DAE71-5962-7B74-27DB-94A9266EC567}"/>
              </a:ext>
              <a:ext uri="{C183D7F6-B498-43B3-948B-1728B52AA6E4}">
                <adec:decorative xmlns:adec="http://schemas.microsoft.com/office/drawing/2017/decorative" val="1"/>
              </a:ext>
            </a:extLst>
          </p:cNvPr>
          <p:cNvSpPr>
            <a:spLocks/>
          </p:cNvSpPr>
          <p:nvPr/>
        </p:nvSpPr>
        <p:spPr bwMode="auto">
          <a:xfrm>
            <a:off x="1214438" y="7202262"/>
            <a:ext cx="1713491" cy="1384321"/>
          </a:xfrm>
          <a:prstGeom prst="rect">
            <a:avLst/>
          </a:prstGeom>
          <a:solidFill>
            <a:schemeClr val="bg1"/>
          </a:solidFill>
          <a:ln>
            <a:noFill/>
            <a:headEnd type="none" w="med" len="med"/>
            <a:tailEnd type="none" w="med" len="med"/>
          </a:ln>
          <a:effectLst>
            <a:outerShdw blurRad="38100" algn="ctr"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ctr" anchorCtr="0" forceAA="0" compatLnSpc="1">
            <a:prstTxWarp prst="textNoShape">
              <a:avLst/>
            </a:prstTxWarp>
            <a:noAutofit/>
          </a:bodyPr>
          <a:lstStyle/>
          <a:p>
            <a:pPr marL="0" marR="0" lvl="0" indent="0" algn="l" defTabSz="822813"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endParaRPr>
          </a:p>
        </p:txBody>
      </p:sp>
      <p:sp>
        <p:nvSpPr>
          <p:cNvPr id="72" name="Rectangle 71">
            <a:extLst>
              <a:ext uri="{FF2B5EF4-FFF2-40B4-BE49-F238E27FC236}">
                <a16:creationId xmlns:a16="http://schemas.microsoft.com/office/drawing/2014/main" id="{C4F52557-55AE-FFBC-57CE-D777B64552D1}"/>
              </a:ext>
              <a:ext uri="{C183D7F6-B498-43B3-948B-1728B52AA6E4}">
                <adec:decorative xmlns:adec="http://schemas.microsoft.com/office/drawing/2017/decorative" val="1"/>
              </a:ext>
            </a:extLst>
          </p:cNvPr>
          <p:cNvSpPr>
            <a:spLocks/>
          </p:cNvSpPr>
          <p:nvPr/>
        </p:nvSpPr>
        <p:spPr bwMode="auto">
          <a:xfrm>
            <a:off x="3027074" y="7204838"/>
            <a:ext cx="1713491" cy="1381745"/>
          </a:xfrm>
          <a:prstGeom prst="rect">
            <a:avLst/>
          </a:prstGeom>
          <a:solidFill>
            <a:schemeClr val="bg1"/>
          </a:solidFill>
          <a:ln>
            <a:noFill/>
            <a:headEnd type="none" w="med" len="med"/>
            <a:tailEnd type="none" w="med" len="med"/>
          </a:ln>
          <a:effectLst>
            <a:outerShdw blurRad="38100" algn="ctr"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ctr" anchorCtr="0" forceAA="0" compatLnSpc="1">
            <a:prstTxWarp prst="textNoShape">
              <a:avLst/>
            </a:prstTxWarp>
            <a:noAutofit/>
          </a:bodyPr>
          <a:lstStyle/>
          <a:p>
            <a:pPr marL="0" marR="0" lvl="0" indent="0" algn="l" defTabSz="822813"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endParaRPr>
          </a:p>
        </p:txBody>
      </p:sp>
      <p:sp>
        <p:nvSpPr>
          <p:cNvPr id="73" name="Rectangle 72">
            <a:extLst>
              <a:ext uri="{FF2B5EF4-FFF2-40B4-BE49-F238E27FC236}">
                <a16:creationId xmlns:a16="http://schemas.microsoft.com/office/drawing/2014/main" id="{E906343A-5109-09A3-B24C-A1283E7C6C0C}"/>
              </a:ext>
              <a:ext uri="{C183D7F6-B498-43B3-948B-1728B52AA6E4}">
                <adec:decorative xmlns:adec="http://schemas.microsoft.com/office/drawing/2017/decorative" val="1"/>
              </a:ext>
            </a:extLst>
          </p:cNvPr>
          <p:cNvSpPr>
            <a:spLocks/>
          </p:cNvSpPr>
          <p:nvPr/>
        </p:nvSpPr>
        <p:spPr bwMode="auto">
          <a:xfrm>
            <a:off x="4839709" y="7204838"/>
            <a:ext cx="1713491" cy="1381745"/>
          </a:xfrm>
          <a:prstGeom prst="rect">
            <a:avLst/>
          </a:prstGeom>
          <a:solidFill>
            <a:schemeClr val="bg1"/>
          </a:solidFill>
          <a:ln>
            <a:noFill/>
            <a:headEnd type="none" w="med" len="med"/>
            <a:tailEnd type="none" w="med" len="med"/>
          </a:ln>
          <a:effectLst>
            <a:outerShdw blurRad="38100" algn="ctr"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ctr" anchorCtr="0" forceAA="0" compatLnSpc="1">
            <a:prstTxWarp prst="textNoShape">
              <a:avLst/>
            </a:prstTxWarp>
            <a:noAutofit/>
          </a:bodyPr>
          <a:lstStyle/>
          <a:p>
            <a:pPr marL="0" marR="0" lvl="0" indent="0" algn="l" defTabSz="822813"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endParaRPr>
          </a:p>
        </p:txBody>
      </p:sp>
      <p:sp>
        <p:nvSpPr>
          <p:cNvPr id="43" name="Oval 42">
            <a:extLst>
              <a:ext uri="{FF2B5EF4-FFF2-40B4-BE49-F238E27FC236}">
                <a16:creationId xmlns:a16="http://schemas.microsoft.com/office/drawing/2014/main" id="{D78839B0-3443-8083-96DE-420E5D0DC8AE}"/>
              </a:ext>
              <a:ext uri="{C183D7F6-B498-43B3-948B-1728B52AA6E4}">
                <adec:decorative xmlns:adec="http://schemas.microsoft.com/office/drawing/2017/decorative" val="1"/>
              </a:ext>
            </a:extLst>
          </p:cNvPr>
          <p:cNvSpPr/>
          <p:nvPr/>
        </p:nvSpPr>
        <p:spPr>
          <a:xfrm>
            <a:off x="1948746" y="6647741"/>
            <a:ext cx="229110" cy="229558"/>
          </a:xfrm>
          <a:prstGeom prst="ellipse">
            <a:avLst/>
          </a:prstGeom>
          <a:solidFill>
            <a:schemeClr val="tx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91588"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mn-cs"/>
              </a:rPr>
              <a:t>1</a:t>
            </a:r>
          </a:p>
        </p:txBody>
      </p:sp>
      <p:sp>
        <p:nvSpPr>
          <p:cNvPr id="74" name="Rectangle: Top Corners Rounded 73">
            <a:extLst>
              <a:ext uri="{FF2B5EF4-FFF2-40B4-BE49-F238E27FC236}">
                <a16:creationId xmlns:a16="http://schemas.microsoft.com/office/drawing/2014/main" id="{813FDE32-EC7A-5B15-8F99-94F825E8C6C5}"/>
              </a:ext>
              <a:ext uri="{C183D7F6-B498-43B3-948B-1728B52AA6E4}">
                <adec:decorative xmlns:adec="http://schemas.microsoft.com/office/drawing/2017/decorative" val="1"/>
              </a:ext>
            </a:extLst>
          </p:cNvPr>
          <p:cNvSpPr>
            <a:spLocks/>
          </p:cNvSpPr>
          <p:nvPr/>
        </p:nvSpPr>
        <p:spPr bwMode="auto">
          <a:xfrm>
            <a:off x="1214438" y="6926355"/>
            <a:ext cx="1713491" cy="272362"/>
          </a:xfrm>
          <a:prstGeom prst="round2SameRect">
            <a:avLst/>
          </a:prstGeom>
          <a:solidFill>
            <a:srgbClr val="DEE6F2"/>
          </a:solidFill>
          <a:ln>
            <a:noFill/>
            <a:headEnd type="none" w="med" len="med"/>
            <a:tailEnd type="none" w="med" len="med"/>
          </a:ln>
          <a:effectLst>
            <a:outerShdw blurRad="38100" algn="ctr"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0682" tIns="40341" rIns="80682" bIns="64546" numCol="1" spcCol="0" rtlCol="0" fromWordArt="0" anchor="ctr" anchorCtr="0" forceAA="0" compatLnSpc="1">
            <a:prstTxWarp prst="textNoShape">
              <a:avLst/>
            </a:prstTxWarp>
            <a:spAutoFit/>
          </a:bodyPr>
          <a:lstStyle/>
          <a:p>
            <a:pPr marL="0" marR="0" lvl="0" indent="0" algn="ctr" defTabSz="822813"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Semibold"/>
                <a:ea typeface="+mn-ea"/>
                <a:cs typeface="Segoe UI" pitchFamily="34" charset="0"/>
              </a:rPr>
              <a:t>Assess and discover</a:t>
            </a:r>
          </a:p>
        </p:txBody>
      </p:sp>
      <p:sp>
        <p:nvSpPr>
          <p:cNvPr id="87" name="TextBox 86">
            <a:extLst>
              <a:ext uri="{FF2B5EF4-FFF2-40B4-BE49-F238E27FC236}">
                <a16:creationId xmlns:a16="http://schemas.microsoft.com/office/drawing/2014/main" id="{0D82ED6B-BEC0-CC27-AA10-23E85D8C1853}"/>
              </a:ext>
              <a:ext uri="{C183D7F6-B498-43B3-948B-1728B52AA6E4}">
                <adec:decorative xmlns:adec="http://schemas.microsoft.com/office/drawing/2017/decorative" val="1"/>
              </a:ext>
            </a:extLst>
          </p:cNvPr>
          <p:cNvSpPr txBox="1">
            <a:spLocks/>
          </p:cNvSpPr>
          <p:nvPr/>
        </p:nvSpPr>
        <p:spPr>
          <a:xfrm>
            <a:off x="1267471" y="7244389"/>
            <a:ext cx="1629807" cy="307777"/>
          </a:xfrm>
          <a:prstGeom prst="rect">
            <a:avLst/>
          </a:prstGeom>
          <a:noFill/>
        </p:spPr>
        <p:txBody>
          <a:bodyPr wrap="square" lIns="0" tIns="0" rIns="0" bIns="0">
            <a:spAutoFit/>
          </a:bodyPr>
          <a:lstStyle/>
          <a:p>
            <a:pPr marL="0" marR="0" lvl="0" indent="0" algn="ctr" defTabSz="40343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Semibold"/>
                <a:ea typeface="+mn-ea"/>
                <a:cs typeface="+mn-cs"/>
              </a:rPr>
              <a:t>Introduction to Cloud Financial Management</a:t>
            </a:r>
          </a:p>
        </p:txBody>
      </p:sp>
      <p:sp>
        <p:nvSpPr>
          <p:cNvPr id="88" name="TextBox 87">
            <a:extLst>
              <a:ext uri="{FF2B5EF4-FFF2-40B4-BE49-F238E27FC236}">
                <a16:creationId xmlns:a16="http://schemas.microsoft.com/office/drawing/2014/main" id="{82528EDB-5271-9235-3C3E-159FEA96C5C6}"/>
              </a:ext>
              <a:ext uri="{C183D7F6-B498-43B3-948B-1728B52AA6E4}">
                <adec:decorative xmlns:adec="http://schemas.microsoft.com/office/drawing/2017/decorative" val="1"/>
              </a:ext>
            </a:extLst>
          </p:cNvPr>
          <p:cNvSpPr txBox="1">
            <a:spLocks/>
          </p:cNvSpPr>
          <p:nvPr/>
        </p:nvSpPr>
        <p:spPr>
          <a:xfrm>
            <a:off x="1242942" y="7791296"/>
            <a:ext cx="1629807" cy="615553"/>
          </a:xfrm>
          <a:prstGeom prst="rect">
            <a:avLst/>
          </a:prstGeom>
          <a:noFill/>
        </p:spPr>
        <p:txBody>
          <a:bodyPr wrap="square" lIns="0" tIns="0" rIns="0" bIns="0">
            <a:spAutoFit/>
          </a:bodyPr>
          <a:lstStyle>
            <a:defPPr>
              <a:defRPr lang="en-US"/>
            </a:defPPr>
            <a:lvl1pPr marR="0" lvl="0" indent="0" algn="ctr" defTabSz="403433" fontAlgn="auto">
              <a:lnSpc>
                <a:spcPct val="100000"/>
              </a:lnSpc>
              <a:spcBef>
                <a:spcPts val="0"/>
              </a:spcBef>
              <a:spcAft>
                <a:spcPts val="0"/>
              </a:spcAft>
              <a:buClrTx/>
              <a:buSzTx/>
              <a:buFontTx/>
              <a:buNone/>
              <a:tabLst/>
              <a:defRPr sz="800">
                <a:solidFill>
                  <a:srgbClr val="000000"/>
                </a:solidFill>
                <a:latin typeface="Segoe UI"/>
              </a:defRPr>
            </a:lvl1pPr>
          </a:lstStyle>
          <a:p>
            <a:pPr marL="0" marR="0" lvl="0" indent="0" algn="ctr" defTabSz="403433" rtl="0" eaLnBrk="1" fontAlgn="auto" latinLnBrk="0" hangingPunct="1">
              <a:lnSpc>
                <a:spcPct val="100000"/>
              </a:lnSpc>
              <a:spcBef>
                <a:spcPts val="10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a:ea typeface="+mn-lt"/>
                <a:cs typeface="Segoe UI"/>
              </a:rPr>
              <a:t>Learn to assess the current maturity level of your cloud financial management practices. </a:t>
            </a:r>
          </a:p>
        </p:txBody>
      </p:sp>
      <p:sp>
        <p:nvSpPr>
          <p:cNvPr id="45" name="Oval 44">
            <a:extLst>
              <a:ext uri="{FF2B5EF4-FFF2-40B4-BE49-F238E27FC236}">
                <a16:creationId xmlns:a16="http://schemas.microsoft.com/office/drawing/2014/main" id="{7AD2B54C-0615-C704-9F12-D7E15C057202}"/>
              </a:ext>
              <a:ext uri="{C183D7F6-B498-43B3-948B-1728B52AA6E4}">
                <adec:decorative xmlns:adec="http://schemas.microsoft.com/office/drawing/2017/decorative" val="1"/>
              </a:ext>
            </a:extLst>
          </p:cNvPr>
          <p:cNvSpPr/>
          <p:nvPr/>
        </p:nvSpPr>
        <p:spPr>
          <a:xfrm>
            <a:off x="3761381" y="6647741"/>
            <a:ext cx="229110" cy="229558"/>
          </a:xfrm>
          <a:prstGeom prst="ellipse">
            <a:avLst/>
          </a:prstGeom>
          <a:solidFill>
            <a:schemeClr val="tx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91588"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mn-cs"/>
              </a:rPr>
              <a:t>2</a:t>
            </a:r>
          </a:p>
        </p:txBody>
      </p:sp>
      <p:sp>
        <p:nvSpPr>
          <p:cNvPr id="75" name="Rectangle: Top Corners Rounded 74">
            <a:extLst>
              <a:ext uri="{FF2B5EF4-FFF2-40B4-BE49-F238E27FC236}">
                <a16:creationId xmlns:a16="http://schemas.microsoft.com/office/drawing/2014/main" id="{EA3B7281-2E84-863D-656B-926EFE1FC755}"/>
              </a:ext>
              <a:ext uri="{C183D7F6-B498-43B3-948B-1728B52AA6E4}">
                <adec:decorative xmlns:adec="http://schemas.microsoft.com/office/drawing/2017/decorative" val="1"/>
              </a:ext>
            </a:extLst>
          </p:cNvPr>
          <p:cNvSpPr>
            <a:spLocks/>
          </p:cNvSpPr>
          <p:nvPr/>
        </p:nvSpPr>
        <p:spPr bwMode="auto">
          <a:xfrm>
            <a:off x="3027073" y="6926355"/>
            <a:ext cx="1713491" cy="272362"/>
          </a:xfrm>
          <a:prstGeom prst="round2SameRect">
            <a:avLst/>
          </a:prstGeom>
          <a:solidFill>
            <a:srgbClr val="DEE6F2"/>
          </a:solidFill>
          <a:ln>
            <a:noFill/>
            <a:headEnd type="none" w="med" len="med"/>
            <a:tailEnd type="none" w="med" len="med"/>
          </a:ln>
          <a:effectLst>
            <a:outerShdw blurRad="38100" algn="ctr"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0682" tIns="40341" rIns="80682" bIns="64546" numCol="1" spcCol="0" rtlCol="0" fromWordArt="0" anchor="ctr" anchorCtr="0" forceAA="0" compatLnSpc="1">
            <a:prstTxWarp prst="textNoShape">
              <a:avLst/>
            </a:prstTxWarp>
            <a:spAutoFit/>
          </a:bodyPr>
          <a:lstStyle/>
          <a:p>
            <a:pPr marL="0" marR="0" lvl="0" indent="0" algn="ctr" defTabSz="822813"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Semibold"/>
                <a:ea typeface="+mn-ea"/>
                <a:cs typeface="Segoe UI" pitchFamily="34" charset="0"/>
              </a:rPr>
              <a:t>Upskill and design</a:t>
            </a:r>
          </a:p>
        </p:txBody>
      </p:sp>
      <p:sp>
        <p:nvSpPr>
          <p:cNvPr id="4" name="TextBox 3">
            <a:extLst>
              <a:ext uri="{FF2B5EF4-FFF2-40B4-BE49-F238E27FC236}">
                <a16:creationId xmlns:a16="http://schemas.microsoft.com/office/drawing/2014/main" id="{76232939-C59D-2731-FE92-6D614014F46A}"/>
              </a:ext>
              <a:ext uri="{C183D7F6-B498-43B3-948B-1728B52AA6E4}">
                <adec:decorative xmlns:adec="http://schemas.microsoft.com/office/drawing/2017/decorative" val="1"/>
              </a:ext>
            </a:extLst>
          </p:cNvPr>
          <p:cNvSpPr txBox="1">
            <a:spLocks/>
          </p:cNvSpPr>
          <p:nvPr/>
        </p:nvSpPr>
        <p:spPr>
          <a:xfrm>
            <a:off x="3068916" y="7284472"/>
            <a:ext cx="1629807" cy="307777"/>
          </a:xfrm>
          <a:prstGeom prst="rect">
            <a:avLst/>
          </a:prstGeom>
          <a:noFill/>
        </p:spPr>
        <p:txBody>
          <a:bodyPr wrap="square" lIns="0" tIns="0" rIns="0" bIns="0">
            <a:spAutoFit/>
          </a:bodyPr>
          <a:lstStyle/>
          <a:p>
            <a:pPr marL="0" marR="0" lvl="0" indent="0" algn="ctr" defTabSz="40343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Semibold"/>
                <a:ea typeface="+mn-ea"/>
                <a:cs typeface="+mn-cs"/>
              </a:rPr>
              <a:t>Azure Cost Management Planning</a:t>
            </a:r>
          </a:p>
        </p:txBody>
      </p:sp>
      <p:sp>
        <p:nvSpPr>
          <p:cNvPr id="6" name="TextBox 5">
            <a:extLst>
              <a:ext uri="{FF2B5EF4-FFF2-40B4-BE49-F238E27FC236}">
                <a16:creationId xmlns:a16="http://schemas.microsoft.com/office/drawing/2014/main" id="{2A113B69-DA17-9481-34E6-6C80729AF40A}"/>
              </a:ext>
              <a:ext uri="{C183D7F6-B498-43B3-948B-1728B52AA6E4}">
                <adec:decorative xmlns:adec="http://schemas.microsoft.com/office/drawing/2017/decorative" val="1"/>
              </a:ext>
            </a:extLst>
          </p:cNvPr>
          <p:cNvSpPr txBox="1">
            <a:spLocks/>
          </p:cNvSpPr>
          <p:nvPr/>
        </p:nvSpPr>
        <p:spPr>
          <a:xfrm>
            <a:off x="3068914" y="7787767"/>
            <a:ext cx="1629807" cy="461665"/>
          </a:xfrm>
          <a:prstGeom prst="rect">
            <a:avLst/>
          </a:prstGeom>
          <a:noFill/>
        </p:spPr>
        <p:txBody>
          <a:bodyPr wrap="square" lIns="0" tIns="0" rIns="0" bIns="0">
            <a:spAutoFit/>
          </a:bodyPr>
          <a:lstStyle/>
          <a:p>
            <a:pPr marL="0" marR="0" lvl="0" indent="0" algn="ctr" defTabSz="403433" rtl="0" eaLnBrk="1" fontAlgn="auto" latinLnBrk="0" hangingPunct="1">
              <a:lnSpc>
                <a:spcPct val="100000"/>
              </a:lnSpc>
              <a:spcBef>
                <a:spcPts val="176"/>
              </a:spcBef>
              <a:spcAft>
                <a:spcPts val="176"/>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mn-cs"/>
              </a:rPr>
              <a:t>Gain knowledge about the Azure financial management toolchain.</a:t>
            </a:r>
          </a:p>
        </p:txBody>
      </p:sp>
      <p:sp>
        <p:nvSpPr>
          <p:cNvPr id="46" name="Oval 45">
            <a:extLst>
              <a:ext uri="{FF2B5EF4-FFF2-40B4-BE49-F238E27FC236}">
                <a16:creationId xmlns:a16="http://schemas.microsoft.com/office/drawing/2014/main" id="{D182FC42-B8E4-68E7-9AD0-21A35F8397FF}"/>
              </a:ext>
              <a:ext uri="{C183D7F6-B498-43B3-948B-1728B52AA6E4}">
                <adec:decorative xmlns:adec="http://schemas.microsoft.com/office/drawing/2017/decorative" val="1"/>
              </a:ext>
            </a:extLst>
          </p:cNvPr>
          <p:cNvSpPr/>
          <p:nvPr/>
        </p:nvSpPr>
        <p:spPr>
          <a:xfrm>
            <a:off x="5574017" y="6647741"/>
            <a:ext cx="229110" cy="229558"/>
          </a:xfrm>
          <a:prstGeom prst="ellipse">
            <a:avLst/>
          </a:prstGeom>
          <a:solidFill>
            <a:schemeClr val="tx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91588"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mn-cs"/>
              </a:rPr>
              <a:t>3</a:t>
            </a:r>
          </a:p>
        </p:txBody>
      </p:sp>
      <p:sp>
        <p:nvSpPr>
          <p:cNvPr id="76" name="Rectangle: Top Corners Rounded 75">
            <a:extLst>
              <a:ext uri="{FF2B5EF4-FFF2-40B4-BE49-F238E27FC236}">
                <a16:creationId xmlns:a16="http://schemas.microsoft.com/office/drawing/2014/main" id="{DAC06B43-585D-F227-4054-6047E12081E3}"/>
              </a:ext>
              <a:ext uri="{C183D7F6-B498-43B3-948B-1728B52AA6E4}">
                <adec:decorative xmlns:adec="http://schemas.microsoft.com/office/drawing/2017/decorative" val="1"/>
              </a:ext>
            </a:extLst>
          </p:cNvPr>
          <p:cNvSpPr>
            <a:spLocks/>
          </p:cNvSpPr>
          <p:nvPr/>
        </p:nvSpPr>
        <p:spPr bwMode="auto">
          <a:xfrm>
            <a:off x="4839709" y="6926355"/>
            <a:ext cx="1713491" cy="272362"/>
          </a:xfrm>
          <a:prstGeom prst="round2SameRect">
            <a:avLst/>
          </a:prstGeom>
          <a:solidFill>
            <a:srgbClr val="DEE6F2"/>
          </a:solidFill>
          <a:ln>
            <a:noFill/>
            <a:headEnd type="none" w="med" len="med"/>
            <a:tailEnd type="none" w="med" len="med"/>
          </a:ln>
          <a:effectLst>
            <a:outerShdw blurRad="38100" algn="ctr"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0682" tIns="40341" rIns="80682" bIns="64546" numCol="1" spcCol="0" rtlCol="0" fromWordArt="0" anchor="ctr" anchorCtr="0" forceAA="0" compatLnSpc="1">
            <a:prstTxWarp prst="textNoShape">
              <a:avLst/>
            </a:prstTxWarp>
            <a:spAutoFit/>
          </a:bodyPr>
          <a:lstStyle/>
          <a:p>
            <a:pPr marL="0" marR="0" lvl="0" indent="0" algn="ctr" defTabSz="822813"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Semibold"/>
                <a:ea typeface="+mn-ea"/>
                <a:cs typeface="Segoe UI" pitchFamily="34" charset="0"/>
              </a:rPr>
              <a:t>Configure and implement</a:t>
            </a:r>
          </a:p>
        </p:txBody>
      </p:sp>
      <p:sp>
        <p:nvSpPr>
          <p:cNvPr id="5" name="TextBox 4">
            <a:extLst>
              <a:ext uri="{FF2B5EF4-FFF2-40B4-BE49-F238E27FC236}">
                <a16:creationId xmlns:a16="http://schemas.microsoft.com/office/drawing/2014/main" id="{A85A27C5-8161-3C03-17FF-3F358A449F77}"/>
              </a:ext>
              <a:ext uri="{C183D7F6-B498-43B3-948B-1728B52AA6E4}">
                <adec:decorative xmlns:adec="http://schemas.microsoft.com/office/drawing/2017/decorative" val="1"/>
              </a:ext>
            </a:extLst>
          </p:cNvPr>
          <p:cNvSpPr txBox="1">
            <a:spLocks/>
          </p:cNvSpPr>
          <p:nvPr/>
        </p:nvSpPr>
        <p:spPr>
          <a:xfrm>
            <a:off x="4873668" y="7232443"/>
            <a:ext cx="1629807" cy="461665"/>
          </a:xfrm>
          <a:prstGeom prst="rect">
            <a:avLst/>
          </a:prstGeom>
          <a:noFill/>
        </p:spPr>
        <p:txBody>
          <a:bodyPr wrap="square" lIns="0" tIns="0" rIns="0" bIns="0">
            <a:spAutoFit/>
          </a:bodyPr>
          <a:lstStyle/>
          <a:p>
            <a:pPr marL="0" marR="0" lvl="0" indent="0" algn="ctr" defTabSz="40343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Semibold"/>
                <a:ea typeface="+mn-ea"/>
                <a:cs typeface="+mn-cs"/>
              </a:rPr>
              <a:t>Customer-Specific Collaboration with our Experienced Architects </a:t>
            </a:r>
          </a:p>
        </p:txBody>
      </p:sp>
      <p:sp>
        <p:nvSpPr>
          <p:cNvPr id="7" name="TextBox 6">
            <a:extLst>
              <a:ext uri="{FF2B5EF4-FFF2-40B4-BE49-F238E27FC236}">
                <a16:creationId xmlns:a16="http://schemas.microsoft.com/office/drawing/2014/main" id="{1C104713-4440-D8DA-882A-621F3C17DC69}"/>
              </a:ext>
              <a:ext uri="{C183D7F6-B498-43B3-948B-1728B52AA6E4}">
                <adec:decorative xmlns:adec="http://schemas.microsoft.com/office/drawing/2017/decorative" val="1"/>
              </a:ext>
            </a:extLst>
          </p:cNvPr>
          <p:cNvSpPr txBox="1">
            <a:spLocks/>
          </p:cNvSpPr>
          <p:nvPr/>
        </p:nvSpPr>
        <p:spPr>
          <a:xfrm>
            <a:off x="4881551" y="7791296"/>
            <a:ext cx="1629807" cy="615553"/>
          </a:xfrm>
          <a:prstGeom prst="rect">
            <a:avLst/>
          </a:prstGeom>
          <a:noFill/>
        </p:spPr>
        <p:txBody>
          <a:bodyPr wrap="square" lIns="0" tIns="0" rIns="0" bIns="0">
            <a:spAutoFit/>
          </a:bodyPr>
          <a:lstStyle/>
          <a:p>
            <a:pPr marL="0" marR="0" lvl="0" indent="0" algn="ctr" defTabSz="41029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a:rPr>
              <a:t>Increase your sustainable cloud financial management capabilities to achieve your strategic business goals.</a:t>
            </a:r>
          </a:p>
        </p:txBody>
      </p:sp>
      <p:sp>
        <p:nvSpPr>
          <p:cNvPr id="80" name="TextBox 79">
            <a:extLst>
              <a:ext uri="{FF2B5EF4-FFF2-40B4-BE49-F238E27FC236}">
                <a16:creationId xmlns:a16="http://schemas.microsoft.com/office/drawing/2014/main" id="{7EC5B966-A9D7-7DFB-61E1-5A74F0D9B2C2}"/>
              </a:ext>
              <a:ext uri="{C183D7F6-B498-43B3-948B-1728B52AA6E4}">
                <adec:decorative xmlns:adec="http://schemas.microsoft.com/office/drawing/2017/decorative" val="1"/>
              </a:ext>
            </a:extLst>
          </p:cNvPr>
          <p:cNvSpPr txBox="1">
            <a:spLocks/>
          </p:cNvSpPr>
          <p:nvPr/>
        </p:nvSpPr>
        <p:spPr>
          <a:xfrm>
            <a:off x="0" y="8647808"/>
            <a:ext cx="6858000" cy="499685"/>
          </a:xfrm>
          <a:prstGeom prst="rect">
            <a:avLst/>
          </a:prstGeom>
          <a:solidFill>
            <a:schemeClr val="accent2"/>
          </a:solidFill>
        </p:spPr>
        <p:txBody>
          <a:bodyPr wrap="square" lIns="310896" tIns="64546" rIns="310896" bIns="64546" anchor="ctr">
            <a:spAutoFit/>
          </a:bodyPr>
          <a:lstStyle>
            <a:defPPr>
              <a:defRPr lang="en-US"/>
            </a:defPPr>
            <a:lvl1pPr algn="ctr" defTabSz="777240">
              <a:defRPr kumimoji="0" sz="1100" b="0" i="0" u="none" strike="noStrike" cap="none" normalizeH="0" baseline="0">
                <a:ln>
                  <a:noFill/>
                </a:ln>
                <a:solidFill>
                  <a:schemeClr val="accent1"/>
                </a:solidFill>
                <a:effectLst/>
                <a:uLnTx/>
                <a:uFillTx/>
                <a:latin typeface="+mj-lt"/>
              </a:defRPr>
            </a:lvl1pPr>
          </a:lstStyle>
          <a:p>
            <a:pPr marL="0" marR="0" lvl="0" indent="0" algn="ctr" defTabSz="665701"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Segoe UI"/>
              <a:ea typeface="+mn-ea"/>
              <a:cs typeface="+mn-cs"/>
            </a:endParaRPr>
          </a:p>
          <a:p>
            <a:pPr marL="0" marR="0" lvl="0" indent="0" algn="ctr" defTabSz="66570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2023 ©</a:t>
            </a:r>
          </a:p>
          <a:p>
            <a:pPr marL="0" marR="0" lvl="0" indent="0" algn="ctr" defTabSz="665701"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36" name="Group 35">
            <a:extLst>
              <a:ext uri="{FF2B5EF4-FFF2-40B4-BE49-F238E27FC236}">
                <a16:creationId xmlns:a16="http://schemas.microsoft.com/office/drawing/2014/main" id="{50C54FCD-FCC1-83F6-CD1E-B8D9FDF6F81C}"/>
              </a:ext>
              <a:ext uri="{C183D7F6-B498-43B3-948B-1728B52AA6E4}">
                <adec:decorative xmlns:adec="http://schemas.microsoft.com/office/drawing/2017/decorative" val="1"/>
              </a:ext>
            </a:extLst>
          </p:cNvPr>
          <p:cNvGrpSpPr/>
          <p:nvPr/>
        </p:nvGrpSpPr>
        <p:grpSpPr>
          <a:xfrm>
            <a:off x="2897278" y="6682496"/>
            <a:ext cx="144682" cy="160048"/>
            <a:chOff x="3202873" y="6836318"/>
            <a:chExt cx="234276" cy="196588"/>
          </a:xfrm>
        </p:grpSpPr>
        <p:sp>
          <p:nvSpPr>
            <p:cNvPr id="37" name="Arrow: Chevron 36">
              <a:extLst>
                <a:ext uri="{FF2B5EF4-FFF2-40B4-BE49-F238E27FC236}">
                  <a16:creationId xmlns:a16="http://schemas.microsoft.com/office/drawing/2014/main" id="{29BDEDFE-4010-B8D5-5666-23DFDAB7A8BD}"/>
                </a:ext>
              </a:extLst>
            </p:cNvPr>
            <p:cNvSpPr/>
            <p:nvPr/>
          </p:nvSpPr>
          <p:spPr bwMode="auto">
            <a:xfrm>
              <a:off x="3240561" y="6836318"/>
              <a:ext cx="196588" cy="196588"/>
            </a:xfrm>
            <a:prstGeom prst="chevro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marL="0" marR="0" lvl="0" indent="0" algn="l" defTabSz="822813"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8" name="Arrow: Chevron 37">
              <a:extLst>
                <a:ext uri="{FF2B5EF4-FFF2-40B4-BE49-F238E27FC236}">
                  <a16:creationId xmlns:a16="http://schemas.microsoft.com/office/drawing/2014/main" id="{54170DC4-E0FC-369B-DF0C-F585FCA86961}"/>
                </a:ext>
              </a:extLst>
            </p:cNvPr>
            <p:cNvSpPr/>
            <p:nvPr/>
          </p:nvSpPr>
          <p:spPr bwMode="auto">
            <a:xfrm>
              <a:off x="3202873" y="6866621"/>
              <a:ext cx="135982" cy="135982"/>
            </a:xfrm>
            <a:prstGeom prst="chevron">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marL="0" marR="0" lvl="0" indent="0" algn="l" defTabSz="822813"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grpSp>
        <p:nvGrpSpPr>
          <p:cNvPr id="39" name="Group 38">
            <a:extLst>
              <a:ext uri="{FF2B5EF4-FFF2-40B4-BE49-F238E27FC236}">
                <a16:creationId xmlns:a16="http://schemas.microsoft.com/office/drawing/2014/main" id="{62877026-C626-0EF4-7DF3-641CC83AD130}"/>
              </a:ext>
              <a:ext uri="{C183D7F6-B498-43B3-948B-1728B52AA6E4}">
                <adec:decorative xmlns:adec="http://schemas.microsoft.com/office/drawing/2017/decorative" val="1"/>
              </a:ext>
            </a:extLst>
          </p:cNvPr>
          <p:cNvGrpSpPr/>
          <p:nvPr/>
        </p:nvGrpSpPr>
        <p:grpSpPr>
          <a:xfrm>
            <a:off x="4709913" y="6682496"/>
            <a:ext cx="144682" cy="160048"/>
            <a:chOff x="3202873" y="6836318"/>
            <a:chExt cx="234276" cy="196588"/>
          </a:xfrm>
        </p:grpSpPr>
        <p:sp>
          <p:nvSpPr>
            <p:cNvPr id="40" name="Arrow: Chevron 39">
              <a:extLst>
                <a:ext uri="{FF2B5EF4-FFF2-40B4-BE49-F238E27FC236}">
                  <a16:creationId xmlns:a16="http://schemas.microsoft.com/office/drawing/2014/main" id="{45B87E6E-9344-0414-0FFE-7A171AFBFAF6}"/>
                </a:ext>
              </a:extLst>
            </p:cNvPr>
            <p:cNvSpPr/>
            <p:nvPr/>
          </p:nvSpPr>
          <p:spPr bwMode="auto">
            <a:xfrm>
              <a:off x="3240561" y="6836318"/>
              <a:ext cx="196588" cy="196588"/>
            </a:xfrm>
            <a:prstGeom prst="chevro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marL="0" marR="0" lvl="0" indent="0" algn="l" defTabSz="822813"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1" name="Arrow: Chevron 40">
              <a:extLst>
                <a:ext uri="{FF2B5EF4-FFF2-40B4-BE49-F238E27FC236}">
                  <a16:creationId xmlns:a16="http://schemas.microsoft.com/office/drawing/2014/main" id="{170E0386-975D-4F8C-C361-EC108F43F094}"/>
                </a:ext>
              </a:extLst>
            </p:cNvPr>
            <p:cNvSpPr/>
            <p:nvPr/>
          </p:nvSpPr>
          <p:spPr bwMode="auto">
            <a:xfrm>
              <a:off x="3202873" y="6866621"/>
              <a:ext cx="135982" cy="135982"/>
            </a:xfrm>
            <a:prstGeom prst="chevron">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marL="0" marR="0" lvl="0" indent="0" algn="l" defTabSz="822813"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cxnSp>
        <p:nvCxnSpPr>
          <p:cNvPr id="42" name="Straight Connector 41">
            <a:extLst>
              <a:ext uri="{FF2B5EF4-FFF2-40B4-BE49-F238E27FC236}">
                <a16:creationId xmlns:a16="http://schemas.microsoft.com/office/drawing/2014/main" id="{DE57F4CF-01AD-1CD4-E46F-752009A363C3}"/>
              </a:ext>
              <a:ext uri="{C183D7F6-B498-43B3-948B-1728B52AA6E4}">
                <adec:decorative xmlns:adec="http://schemas.microsoft.com/office/drawing/2017/decorative" val="1"/>
              </a:ext>
            </a:extLst>
          </p:cNvPr>
          <p:cNvCxnSpPr>
            <a:cxnSpLocks/>
          </p:cNvCxnSpPr>
          <p:nvPr/>
        </p:nvCxnSpPr>
        <p:spPr>
          <a:xfrm>
            <a:off x="6261986" y="6775564"/>
            <a:ext cx="313581" cy="0"/>
          </a:xfrm>
          <a:prstGeom prst="line">
            <a:avLst/>
          </a:prstGeom>
          <a:ln w="19050" cap="rnd">
            <a:solidFill>
              <a:schemeClr val="accent6"/>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66" name="Group 65">
            <a:extLst>
              <a:ext uri="{FF2B5EF4-FFF2-40B4-BE49-F238E27FC236}">
                <a16:creationId xmlns:a16="http://schemas.microsoft.com/office/drawing/2014/main" id="{7C71C4CE-FFD8-31F7-158A-205A3D9725CF}"/>
              </a:ext>
              <a:ext uri="{C183D7F6-B498-43B3-948B-1728B52AA6E4}">
                <adec:decorative xmlns:adec="http://schemas.microsoft.com/office/drawing/2017/decorative" val="1"/>
              </a:ext>
            </a:extLst>
          </p:cNvPr>
          <p:cNvGrpSpPr>
            <a:grpSpLocks/>
          </p:cNvGrpSpPr>
          <p:nvPr/>
        </p:nvGrpSpPr>
        <p:grpSpPr>
          <a:xfrm>
            <a:off x="320467" y="5773350"/>
            <a:ext cx="199816" cy="194037"/>
            <a:chOff x="586716" y="3904572"/>
            <a:chExt cx="226458" cy="219909"/>
          </a:xfrm>
        </p:grpSpPr>
        <p:sp>
          <p:nvSpPr>
            <p:cNvPr id="67" name="Oval 66">
              <a:extLst>
                <a:ext uri="{FF2B5EF4-FFF2-40B4-BE49-F238E27FC236}">
                  <a16:creationId xmlns:a16="http://schemas.microsoft.com/office/drawing/2014/main" id="{197D6798-D9A9-06BE-D62D-1015CFE8B6C7}"/>
                </a:ext>
              </a:extLst>
            </p:cNvPr>
            <p:cNvSpPr/>
            <p:nvPr/>
          </p:nvSpPr>
          <p:spPr>
            <a:xfrm>
              <a:off x="586716" y="3904572"/>
              <a:ext cx="226458" cy="2199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91588" rtl="0" eaLnBrk="1" fontAlgn="auto" latinLnBrk="0" hangingPunct="1">
                <a:lnSpc>
                  <a:spcPct val="100000"/>
                </a:lnSpc>
                <a:spcBef>
                  <a:spcPts val="0"/>
                </a:spcBef>
                <a:spcAft>
                  <a:spcPts val="0"/>
                </a:spcAft>
                <a:buClrTx/>
                <a:buSzTx/>
                <a:buFontTx/>
                <a:buNone/>
                <a:tabLst/>
                <a:defRPr/>
              </a:pPr>
              <a:endParaRPr kumimoji="0" lang="en-US" sz="1235" b="0" i="0" u="none" strike="noStrike" kern="1200" cap="none" spc="0" normalizeH="0" baseline="0" noProof="0">
                <a:ln>
                  <a:noFill/>
                </a:ln>
                <a:solidFill>
                  <a:srgbClr val="FFFFFF"/>
                </a:solidFill>
                <a:effectLst/>
                <a:uLnTx/>
                <a:uFillTx/>
                <a:latin typeface="Segoe UI"/>
                <a:ea typeface="+mn-ea"/>
                <a:cs typeface="+mn-cs"/>
              </a:endParaRPr>
            </a:p>
          </p:txBody>
        </p:sp>
        <p:sp>
          <p:nvSpPr>
            <p:cNvPr id="68" name="magnify" title="Icon of a magnifying glass">
              <a:extLst>
                <a:ext uri="{FF2B5EF4-FFF2-40B4-BE49-F238E27FC236}">
                  <a16:creationId xmlns:a16="http://schemas.microsoft.com/office/drawing/2014/main" id="{657B35ED-52D1-FD70-4BB6-2C373C53E66D}"/>
                </a:ext>
              </a:extLst>
            </p:cNvPr>
            <p:cNvSpPr>
              <a:spLocks noChangeAspect="1" noEditPoints="1"/>
            </p:cNvSpPr>
            <p:nvPr/>
          </p:nvSpPr>
          <p:spPr bwMode="auto">
            <a:xfrm flipH="1">
              <a:off x="629608" y="3949651"/>
              <a:ext cx="140674" cy="129750"/>
            </a:xfrm>
            <a:custGeom>
              <a:avLst/>
              <a:gdLst>
                <a:gd name="T0" fmla="*/ 112 w 343"/>
                <a:gd name="T1" fmla="*/ 223 h 338"/>
                <a:gd name="T2" fmla="*/ 0 w 343"/>
                <a:gd name="T3" fmla="*/ 111 h 338"/>
                <a:gd name="T4" fmla="*/ 112 w 343"/>
                <a:gd name="T5" fmla="*/ 0 h 338"/>
                <a:gd name="T6" fmla="*/ 223 w 343"/>
                <a:gd name="T7" fmla="*/ 111 h 338"/>
                <a:gd name="T8" fmla="*/ 112 w 343"/>
                <a:gd name="T9" fmla="*/ 223 h 338"/>
                <a:gd name="T10" fmla="*/ 343 w 343"/>
                <a:gd name="T11" fmla="*/ 338 h 338"/>
                <a:gd name="T12" fmla="*/ 191 w 343"/>
                <a:gd name="T13" fmla="*/ 189 h 338"/>
              </a:gdLst>
              <a:ahLst/>
              <a:cxnLst>
                <a:cxn ang="0">
                  <a:pos x="T0" y="T1"/>
                </a:cxn>
                <a:cxn ang="0">
                  <a:pos x="T2" y="T3"/>
                </a:cxn>
                <a:cxn ang="0">
                  <a:pos x="T4" y="T5"/>
                </a:cxn>
                <a:cxn ang="0">
                  <a:pos x="T6" y="T7"/>
                </a:cxn>
                <a:cxn ang="0">
                  <a:pos x="T8" y="T9"/>
                </a:cxn>
                <a:cxn ang="0">
                  <a:pos x="T10" y="T11"/>
                </a:cxn>
                <a:cxn ang="0">
                  <a:pos x="T12" y="T13"/>
                </a:cxn>
              </a:cxnLst>
              <a:rect l="0" t="0" r="r" b="b"/>
              <a:pathLst>
                <a:path w="343" h="338">
                  <a:moveTo>
                    <a:pt x="112" y="223"/>
                  </a:moveTo>
                  <a:cubicBezTo>
                    <a:pt x="50" y="223"/>
                    <a:pt x="0" y="173"/>
                    <a:pt x="0" y="111"/>
                  </a:cubicBezTo>
                  <a:cubicBezTo>
                    <a:pt x="0" y="50"/>
                    <a:pt x="50" y="0"/>
                    <a:pt x="112" y="0"/>
                  </a:cubicBezTo>
                  <a:cubicBezTo>
                    <a:pt x="173" y="0"/>
                    <a:pt x="223" y="50"/>
                    <a:pt x="223" y="111"/>
                  </a:cubicBezTo>
                  <a:cubicBezTo>
                    <a:pt x="223" y="173"/>
                    <a:pt x="173" y="223"/>
                    <a:pt x="112" y="223"/>
                  </a:cubicBezTo>
                  <a:close/>
                  <a:moveTo>
                    <a:pt x="343" y="338"/>
                  </a:moveTo>
                  <a:cubicBezTo>
                    <a:pt x="191" y="189"/>
                    <a:pt x="191" y="189"/>
                    <a:pt x="191" y="189"/>
                  </a:cubicBezTo>
                </a:path>
              </a:pathLst>
            </a:custGeom>
            <a:noFill/>
            <a:ln w="952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78309" tIns="39154" rIns="78309" bIns="39154" numCol="1" anchor="t" anchorCtr="0" compatLnSpc="1">
              <a:prstTxWarp prst="textNoShape">
                <a:avLst/>
              </a:prstTxWarp>
            </a:bodyPr>
            <a:lstStyle/>
            <a:p>
              <a:pPr marL="0" marR="0" lvl="0" indent="0" algn="l" defTabSz="391588" rtl="0" eaLnBrk="1" fontAlgn="auto" latinLnBrk="0" hangingPunct="1">
                <a:lnSpc>
                  <a:spcPct val="100000"/>
                </a:lnSpc>
                <a:spcBef>
                  <a:spcPts val="0"/>
                </a:spcBef>
                <a:spcAft>
                  <a:spcPts val="0"/>
                </a:spcAft>
                <a:buClrTx/>
                <a:buSzTx/>
                <a:buFontTx/>
                <a:buNone/>
                <a:tabLst/>
                <a:defRPr/>
              </a:pPr>
              <a:endParaRPr kumimoji="0" lang="en-US" sz="1235"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13" name="Straight Connector 12">
            <a:extLst>
              <a:ext uri="{FF2B5EF4-FFF2-40B4-BE49-F238E27FC236}">
                <a16:creationId xmlns:a16="http://schemas.microsoft.com/office/drawing/2014/main" id="{996BE869-EB04-0D7A-B305-A2527522DF2B}"/>
              </a:ext>
              <a:ext uri="{C183D7F6-B498-43B3-948B-1728B52AA6E4}">
                <adec:decorative xmlns:adec="http://schemas.microsoft.com/office/drawing/2017/decorative" val="1"/>
              </a:ext>
            </a:extLst>
          </p:cNvPr>
          <p:cNvCxnSpPr>
            <a:cxnSpLocks/>
          </p:cNvCxnSpPr>
          <p:nvPr/>
        </p:nvCxnSpPr>
        <p:spPr>
          <a:xfrm>
            <a:off x="304799" y="7289327"/>
            <a:ext cx="0" cy="369332"/>
          </a:xfrm>
          <a:prstGeom prst="line">
            <a:avLst/>
          </a:prstGeom>
          <a:ln w="19050" cap="rnd">
            <a:solidFill>
              <a:schemeClr val="accent6"/>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9823571-45F8-A8BA-AD2D-5C63C6C4D6D4}"/>
              </a:ext>
              <a:ext uri="{C183D7F6-B498-43B3-948B-1728B52AA6E4}">
                <adec:decorative xmlns:adec="http://schemas.microsoft.com/office/drawing/2017/decorative" val="1"/>
              </a:ext>
            </a:extLst>
          </p:cNvPr>
          <p:cNvCxnSpPr>
            <a:cxnSpLocks/>
          </p:cNvCxnSpPr>
          <p:nvPr/>
        </p:nvCxnSpPr>
        <p:spPr>
          <a:xfrm>
            <a:off x="304799" y="7969432"/>
            <a:ext cx="0" cy="369332"/>
          </a:xfrm>
          <a:prstGeom prst="line">
            <a:avLst/>
          </a:prstGeom>
          <a:ln w="19050" cap="rnd">
            <a:solidFill>
              <a:schemeClr val="accent6"/>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D8486B2-BAB1-0125-208A-F8ACF0698476}"/>
              </a:ext>
              <a:ext uri="{C183D7F6-B498-43B3-948B-1728B52AA6E4}">
                <adec:decorative xmlns:adec="http://schemas.microsoft.com/office/drawing/2017/decorative" val="1"/>
              </a:ext>
            </a:extLst>
          </p:cNvPr>
          <p:cNvCxnSpPr>
            <a:cxnSpLocks/>
          </p:cNvCxnSpPr>
          <p:nvPr/>
        </p:nvCxnSpPr>
        <p:spPr>
          <a:xfrm>
            <a:off x="1256280" y="7721712"/>
            <a:ext cx="1629807" cy="0"/>
          </a:xfrm>
          <a:prstGeom prst="line">
            <a:avLst/>
          </a:prstGeom>
          <a:ln w="635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F76BF23-1AA6-6615-90DE-739A7F453AB4}"/>
              </a:ext>
              <a:ext uri="{C183D7F6-B498-43B3-948B-1728B52AA6E4}">
                <adec:decorative xmlns:adec="http://schemas.microsoft.com/office/drawing/2017/decorative" val="1"/>
              </a:ext>
            </a:extLst>
          </p:cNvPr>
          <p:cNvCxnSpPr>
            <a:cxnSpLocks/>
          </p:cNvCxnSpPr>
          <p:nvPr/>
        </p:nvCxnSpPr>
        <p:spPr>
          <a:xfrm>
            <a:off x="3068916" y="7721712"/>
            <a:ext cx="1629807" cy="0"/>
          </a:xfrm>
          <a:prstGeom prst="line">
            <a:avLst/>
          </a:prstGeom>
          <a:ln w="635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526628CD-B008-6C42-BA0A-80D6B7359744}"/>
              </a:ext>
              <a:ext uri="{C183D7F6-B498-43B3-948B-1728B52AA6E4}">
                <adec:decorative xmlns:adec="http://schemas.microsoft.com/office/drawing/2017/decorative" val="1"/>
              </a:ext>
            </a:extLst>
          </p:cNvPr>
          <p:cNvCxnSpPr>
            <a:cxnSpLocks/>
          </p:cNvCxnSpPr>
          <p:nvPr/>
        </p:nvCxnSpPr>
        <p:spPr>
          <a:xfrm>
            <a:off x="4881551" y="7721712"/>
            <a:ext cx="1629807" cy="0"/>
          </a:xfrm>
          <a:prstGeom prst="line">
            <a:avLst/>
          </a:prstGeom>
          <a:ln w="635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DF2D8513-5C80-2D31-255F-BEFC69D91B6A}"/>
              </a:ext>
              <a:ext uri="{C183D7F6-B498-43B3-948B-1728B52AA6E4}">
                <adec:decorative xmlns:adec="http://schemas.microsoft.com/office/drawing/2017/decorative" val="1"/>
              </a:ext>
            </a:extLst>
          </p:cNvPr>
          <p:cNvCxnSpPr>
            <a:cxnSpLocks/>
          </p:cNvCxnSpPr>
          <p:nvPr/>
        </p:nvCxnSpPr>
        <p:spPr>
          <a:xfrm>
            <a:off x="351300" y="7721712"/>
            <a:ext cx="694069" cy="0"/>
          </a:xfrm>
          <a:prstGeom prst="line">
            <a:avLst/>
          </a:prstGeom>
          <a:ln w="635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8437756"/>
      </p:ext>
    </p:extLst>
  </p:cSld>
  <p:clrMapOvr>
    <a:masterClrMapping/>
  </p:clrMapOvr>
  <p:transition>
    <p:fade/>
  </p:transition>
</p:sld>
</file>

<file path=ppt/theme/theme1.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6C8FA7980B33439CC3151BE572FF11" ma:contentTypeVersion="22" ma:contentTypeDescription="Create a new document." ma:contentTypeScope="" ma:versionID="c1a5b17888fea8997a1f33069961025e">
  <xsd:schema xmlns:xsd="http://www.w3.org/2001/XMLSchema" xmlns:xs="http://www.w3.org/2001/XMLSchema" xmlns:p="http://schemas.microsoft.com/office/2006/metadata/properties" xmlns:ns1="http://schemas.microsoft.com/sharepoint/v3" xmlns:ns2="14da32fb-95cf-4eed-a6cd-eae20237df63" xmlns:ns3="b313d08a-aa2b-4897-8ba9-6687347e3dee" xmlns:ns4="230e9df3-be65-4c73-a93b-d1236ebd677e" targetNamespace="http://schemas.microsoft.com/office/2006/metadata/properties" ma:root="true" ma:fieldsID="96a06bc37625a9fae1185568356dbda6" ns1:_="" ns2:_="" ns3:_="" ns4:_="">
    <xsd:import namespace="http://schemas.microsoft.com/sharepoint/v3"/>
    <xsd:import namespace="14da32fb-95cf-4eed-a6cd-eae20237df63"/>
    <xsd:import namespace="b313d08a-aa2b-4897-8ba9-6687347e3dee"/>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1:_ip_UnifiedCompliancePolicyProperties" minOccurs="0"/>
                <xsd:element ref="ns1:_ip_UnifiedCompliancePolicyUIAction"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4:TaxCatchAll" minOccurs="0"/>
                <xsd:element ref="ns2:Language"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4da32fb-95cf-4eed-a6cd-eae20237df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Language" ma:index="24" nillable="true" ma:displayName="Language" ma:format="Dropdown" ma:internalName="Language">
      <xsd:simpleType>
        <xsd:restriction base="dms:Choice">
          <xsd:enumeration value="English"/>
          <xsd:enumeration value="Chinese ZH-CN"/>
          <xsd:enumeration value="French FR-FR"/>
          <xsd:enumeration value="German DE-DE"/>
          <xsd:enumeration value="Italian IT-IT"/>
          <xsd:enumeration value="Japanese JA-JP"/>
          <xsd:enumeration value="Portuguese PT-BR"/>
          <xsd:enumeration value="Russian RU-RU"/>
          <xsd:enumeration value="Spanish ES-ES"/>
          <xsd:enumeration value="Polish"/>
          <xsd:enumeration value="Turkish"/>
          <xsd:enumeration value="Dutch"/>
          <xsd:enumeration value="Swedish"/>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DocTags" ma:index="26" nillable="true" ma:displayName="MediaServiceDocTags" ma:hidden="true" ma:internalName="MediaServiceDocTags" ma:readOnly="true">
      <xsd:simpleType>
        <xsd:restriction base="dms:Note"/>
      </xsd:simpleType>
    </xsd:element>
    <xsd:element name="MediaServiceObjectDetectorVersions" ma:index="27"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13d08a-aa2b-4897-8ba9-6687347e3de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65c28f54-c99b-4be8-b5ea-9fd202e23ddb}" ma:internalName="TaxCatchAll" ma:showField="CatchAllData" ma:web="b313d08a-aa2b-4897-8ba9-6687347e3de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14da32fb-95cf-4eed-a6cd-eae20237df63">
      <Terms xmlns="http://schemas.microsoft.com/office/infopath/2007/PartnerControls"/>
    </lcf76f155ced4ddcb4097134ff3c332f>
    <SharedWithUsers xmlns="b313d08a-aa2b-4897-8ba9-6687347e3dee">
      <UserInfo>
        <DisplayName>Roger Kim</DisplayName>
        <AccountId>611</AccountId>
        <AccountType/>
      </UserInfo>
      <UserInfo>
        <DisplayName>SharingLinks.3c9b524f-1c19-4825-b3f6-b2f45cdafcd1.OrganizationView.f952c178-0b5f-479d-a896-b4fc786f2f17</DisplayName>
        <AccountId>130</AccountId>
        <AccountType/>
      </UserInfo>
      <UserInfo>
        <DisplayName>Jeff Lanka</DisplayName>
        <AccountId>27376</AccountId>
        <AccountType/>
      </UserInfo>
      <UserInfo>
        <DisplayName>Henry Jones</DisplayName>
        <AccountId>19012</AccountId>
        <AccountType/>
      </UserInfo>
      <UserInfo>
        <DisplayName>Odell Hemby</DisplayName>
        <AccountId>16349</AccountId>
        <AccountType/>
      </UserInfo>
      <UserInfo>
        <DisplayName>Ken Thomas</DisplayName>
        <AccountId>5851</AccountId>
        <AccountType/>
      </UserInfo>
    </SharedWithUsers>
    <Language xmlns="14da32fb-95cf-4eed-a6cd-eae20237df6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20D77E-7FDB-4FF5-95CC-3B7508EDDE4C}"/>
</file>

<file path=customXml/itemProps2.xml><?xml version="1.0" encoding="utf-8"?>
<ds:datastoreItem xmlns:ds="http://schemas.openxmlformats.org/officeDocument/2006/customXml" ds:itemID="{17619704-0E56-45FF-89A9-1397F743EF3E}">
  <ds:schemaRefs>
    <ds:schemaRef ds:uri="230e9df3-be65-4c73-a93b-d1236ebd677e"/>
    <ds:schemaRef ds:uri="58ded192-cb45-423e-8fed-449972779504"/>
    <ds:schemaRef ds:uri="7251edde-8825-4c6c-93b7-112551a738b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C12DE35-551D-4505-B60F-5B3847237620}">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Letter Paper (8.5x11 in)</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White Template</vt:lpstr>
      <vt:lpstr>FinOps on Azure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 Datasheet Template</dc:title>
  <dc:creator>Tessa Berkley</dc:creator>
  <cp:revision>1</cp:revision>
  <dcterms:created xsi:type="dcterms:W3CDTF">2021-07-13T00:10:56Z</dcterms:created>
  <dcterms:modified xsi:type="dcterms:W3CDTF">2023-08-14T22:48:49Z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a191f1-c555-4a9e-8b3e-85ef51701160_ActionId">
    <vt:lpwstr>06f608d3-d8b2-460a-abbc-5f43ae0e1d6a</vt:lpwstr>
  </property>
  <property fmtid="{D5CDD505-2E9C-101B-9397-08002B2CF9AE}" pid="3" name="MSIP_Label_8aa191f1-c555-4a9e-8b3e-85ef51701160_Name">
    <vt:lpwstr>Confidential</vt:lpwstr>
  </property>
  <property fmtid="{D5CDD505-2E9C-101B-9397-08002B2CF9AE}" pid="4" name="MSIP_Label_8aa191f1-c555-4a9e-8b3e-85ef51701160_SetDate">
    <vt:lpwstr>2022-01-24T18:19:34Z</vt:lpwstr>
  </property>
  <property fmtid="{D5CDD505-2E9C-101B-9397-08002B2CF9AE}" pid="5" name="MSIP_Label_8aa191f1-c555-4a9e-8b3e-85ef51701160_SiteId">
    <vt:lpwstr>a57507b2-d296-4dca-a9ae-67b1484e02a9</vt:lpwstr>
  </property>
  <property fmtid="{D5CDD505-2E9C-101B-9397-08002B2CF9AE}" pid="6" name="MSIP_Label_8aa191f1-c555-4a9e-8b3e-85ef51701160_Enabled">
    <vt:lpwstr>True</vt:lpwstr>
  </property>
  <property fmtid="{D5CDD505-2E9C-101B-9397-08002B2CF9AE}" pid="7" name="MediaServiceImageTags">
    <vt:lpwstr/>
  </property>
  <property fmtid="{D5CDD505-2E9C-101B-9397-08002B2CF9AE}" pid="8" name="MSIP_Label_8aa191f1-c555-4a9e-8b3e-85ef51701160_Removed">
    <vt:lpwstr>False</vt:lpwstr>
  </property>
  <property fmtid="{D5CDD505-2E9C-101B-9397-08002B2CF9AE}" pid="9" name="MSIP_Label_8aa191f1-c555-4a9e-8b3e-85ef51701160_Extended_MSFT_Method">
    <vt:lpwstr>Standard</vt:lpwstr>
  </property>
  <property fmtid="{D5CDD505-2E9C-101B-9397-08002B2CF9AE}" pid="10" name="Sensitivity">
    <vt:lpwstr>Confidential</vt:lpwstr>
  </property>
  <property fmtid="{D5CDD505-2E9C-101B-9397-08002B2CF9AE}" pid="11" name="ContentTypeId">
    <vt:lpwstr>0x010100E46C8FA7980B33439CC3151BE572FF11</vt:lpwstr>
  </property>
  <property fmtid="{D5CDD505-2E9C-101B-9397-08002B2CF9AE}" pid="12" name="_dlc_policyId">
    <vt:lpwstr>0x01010070AB3889E58DB141A6E1281B02136174|-369733750</vt:lpwstr>
  </property>
  <property fmtid="{D5CDD505-2E9C-101B-9397-08002B2CF9AE}" pid="13"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ies>
</file>