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21"/>
  </p:notesMasterIdLst>
  <p:handoutMasterIdLst>
    <p:handoutMasterId r:id="rId22"/>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zure App Registration Secret Rotation Script" id="{AD962652-9E41-4B5E-A2DD-E28E5D9C0FF8}">
          <p14:sldIdLst>
            <p14:sldId id="2561"/>
          </p14:sldIdLst>
        </p14:section>
        <p14:section name="Introduction" id="{71023E10-750F-4E1D-B4EF-FA7F6730D9F3}">
          <p14:sldIdLst>
            <p14:sldId id="2562"/>
            <p14:sldId id="2563"/>
          </p14:sldIdLst>
        </p14:section>
        <p14:section name="Prerequisites" id="{62935BED-C671-452E-B015-F4989289CF1A}">
          <p14:sldIdLst>
            <p14:sldId id="2564"/>
            <p14:sldId id="2565"/>
          </p14:sldIdLst>
        </p14:section>
        <p14:section name="Environment Setup" id="{AB9EC446-46CC-4241-8869-8BFED7AAE3B1}">
          <p14:sldIdLst>
            <p14:sldId id="2566"/>
            <p14:sldId id="2567"/>
          </p14:sldIdLst>
        </p14:section>
        <p14:section name="Script Breakdown" id="{46E51A1B-B343-4135-9DC5-FB7F472A497D}">
          <p14:sldIdLst>
            <p14:sldId id="2568"/>
            <p14:sldId id="2569"/>
          </p14:sldIdLst>
        </p14:section>
        <p14:section name="Key Features" id="{4D3C52A5-6F7F-4FD8-B3FE-5915B9437B0F}">
          <p14:sldIdLst>
            <p14:sldId id="2570"/>
            <p14:sldId id="2571"/>
          </p14:sldIdLst>
        </p14:section>
        <p14:section name="Demo Results" id="{3C4BFB07-3026-407D-A14F-01AAA956F6F1}">
          <p14:sldIdLst>
            <p14:sldId id="2572"/>
            <p14:sldId id="2573"/>
            <p14:sldId id="2574"/>
            <p14:sldId id="2575"/>
            <p14:sldId id="25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99058-7865-070D-70D0-F7A4DFF61723}" v="21" dt="2025-09-11T16:26:10.447"/>
    <p1510:client id="{EF0BE049-C9F4-44B0-80E9-399B298FA863}" v="16" dt="2025-09-11T16:21:43.831"/>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7" autoAdjust="0"/>
    <p:restoredTop sz="94468"/>
  </p:normalViewPr>
  <p:slideViewPr>
    <p:cSldViewPr snapToGrid="0">
      <p:cViewPr>
        <p:scale>
          <a:sx n="100" d="100"/>
          <a:sy n="100" d="100"/>
        </p:scale>
        <p:origin x="-72" y="-59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9/11/2025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2727600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the Script</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935272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provides a walkthrough of a PowerShell script designed to automate the rotation of secrets and certificates for Azure Active Directory App Registrations. The script ensures that expired credentials are replaced securely and stored in Azure Key Vault. It also manages network firewall rules and access policies to facilitate secret management via managed identity. The script is intended for use in environments such as Azure Automation or virtual machines with system-assigned identities. It includes robust error handling, logging, and credential lifecycle management features to maintain security and operational efficiency.</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3793922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Required Modules and Permissions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4068709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Before executing the script, several prerequisites must be met. The Az module and Microsoft.Graph.Applications module must be installed using PowerShell commands such as Import-Module -Name Az -Force and Import-Module Microsoft.Graph.Applications -Verbose. The script relies on managed identity for authentication, which means it should be run in a context where a managed identity is available, such as Azure Automation or a VM with a system-assigned identity. Additionally, the managed identity must have Contributor or Owner access to the subscription, Key Vault Administrator or equivalent access to manage secrets, and Microsoft Graph API permissions including Application.ReadWrite.All, AppRoleAssignment.ReadWrite.All, Group.Read.All, Directory.Read.All, and Directory.ReadWrite.All.</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941774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Configuration Parameters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589263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script requires specific environment configuration parameters to function correctly. These include the subscription name (e.g., 'wolffentpsub'), the Key Vault name (e.g., 'wolffkv'), the resource group (e.g., 'Adminrg'), and the App Registration display name (e.g., 'wolffentpOAI'). These values are used throughout the script to identify and manage the appropriate Azure resources. Proper configuration ensures that the script can authenticate, access necessary resources, and perform secret rotation and storage operations securely and efficiently.</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2762846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Functional Components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806539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script is composed of several functional components. It begins with module imports and authentication using managed identity. It then retrieves the subscription context and connects to Microsoft Graph. The rotate_expired_secrets function handles the rotation of secrets for a given App Registration, including updating Key Vault firewall rules and access policies, creating new secrets, and storing them securely. The remove_expired_credential_secrets function deletes expired secrets from App Registrations. The script also includes a secret expiration audit that flags credentials expiring within 30 days and stores metadata in an expiration list. Finally, the rotation execution loop processes each expired item by calling the appropriate functions to remove and replace credentials.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549808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and Automation Enhancements</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793968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script incorporates several key features to enhance security and automation. It dynamically adds IP addresses to Key Vault network ACLs to ensure access during secret management operations. Error handling mechanisms capture and retry operations when IP-related access errors occur, improving reliability. Credential lifecycle management ensures that secrets are rotated and stored securely, reducing the risk of expired or compromised credentials. Logging capabilities provide traceability for IP additions and errors, supporting audit and compliance requirements. These features collectively contribute to a robust and secure automation solution for managing Azure App Registration credentials.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464096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Execution Output Screenshot</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414747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screenshot demonstrates the execution of the PowerShell script in a live environment. It shows the audit of secret expiration dates for various App Registrations, highlighting expired credentials in red and active ones in green. The script then proceeds to remove expired secrets and rotate them by creating new credentials and storing them securely in Azure Key Vault. The output confirms successful operations and provides visual feedback on the automation process, validating the script’s functionality and effectiveness.</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35000838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E2ED-D17D-5110-0C5E-5F06673C6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2EA20-C9EE-59E4-031C-BC5C6928B1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9ADB6-D9A0-F97D-94FC-30BD2159338B}"/>
              </a:ext>
            </a:extLst>
          </p:cNvPr>
          <p:cNvSpPr>
            <a:spLocks noGrp="1"/>
          </p:cNvSpPr>
          <p:nvPr>
            <p:ph type="body" idx="1"/>
          </p:nvPr>
        </p:nvSpPr>
        <p:spPr/>
        <p:txBody>
          <a:bodyPr/>
          <a:lstStyle/>
          <a:p>
            <a:r>
              <a:rPr lang="en-US"/>
              <a:t>
This screenshot demonstrates the execution of the PowerShell script in a live environment. It shows the audit of secret expiration dates for various App Registrations, highlighting expired credentials in red and active ones in green. The script then proceeds to remove expired secrets and rotate them by creating new credentials and storing them securely in Azure Key Vault. The output confirms successful operations and provides visual feedback on the automation process, validating the script’s functionality and effectiveness.</a:t>
            </a:r>
          </a:p>
        </p:txBody>
      </p:sp>
      <p:sp>
        <p:nvSpPr>
          <p:cNvPr id="4" name="Slide Number Placeholder 3">
            <a:extLst>
              <a:ext uri="{FF2B5EF4-FFF2-40B4-BE49-F238E27FC236}">
                <a16:creationId xmlns:a16="http://schemas.microsoft.com/office/drawing/2014/main" id="{BF9FB113-7B87-559C-990C-AFF5A77B5105}"/>
              </a:ext>
            </a:extLst>
          </p:cNvPr>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2529989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6DF66-C053-52B6-7E5A-13FE3FA5A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DE479-917D-1973-0DFF-3FD5A1A5E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9B1A4-5D5E-8CF6-C516-2D8E9F348A3D}"/>
              </a:ext>
            </a:extLst>
          </p:cNvPr>
          <p:cNvSpPr>
            <a:spLocks noGrp="1"/>
          </p:cNvSpPr>
          <p:nvPr>
            <p:ph type="body" idx="1"/>
          </p:nvPr>
        </p:nvSpPr>
        <p:spPr/>
        <p:txBody>
          <a:bodyPr/>
          <a:lstStyle/>
          <a:p>
            <a:r>
              <a:rPr lang="en-US"/>
              <a:t>
This screenshot demonstrates the execution of the PowerShell script in a live environment. It shows the audit of secret expiration dates for various App Registrations, highlighting expired credentials in red and active ones in green. The script then proceeds to remove expired secrets and rotate them by creating new credentials and storing them securely in Azure Key Vault. The output confirms successful operations and provides visual feedback on the automation process, validating the script’s functionality and effectiveness.</a:t>
            </a:r>
          </a:p>
        </p:txBody>
      </p:sp>
      <p:sp>
        <p:nvSpPr>
          <p:cNvPr id="4" name="Slide Number Placeholder 3">
            <a:extLst>
              <a:ext uri="{FF2B5EF4-FFF2-40B4-BE49-F238E27FC236}">
                <a16:creationId xmlns:a16="http://schemas.microsoft.com/office/drawing/2014/main" id="{E0994EDE-A8C9-7ADC-1428-6F22AE77713F}"/>
              </a:ext>
            </a:extLst>
          </p:cNvPr>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3924960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C3EC5-44F6-A9FE-72EB-3EC2AE6AB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3313D-418A-9AD5-9115-089BA092E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BFA92-3BBA-798C-F8CC-52E4948B8AAE}"/>
              </a:ext>
            </a:extLst>
          </p:cNvPr>
          <p:cNvSpPr>
            <a:spLocks noGrp="1"/>
          </p:cNvSpPr>
          <p:nvPr>
            <p:ph type="body" idx="1"/>
          </p:nvPr>
        </p:nvSpPr>
        <p:spPr/>
        <p:txBody>
          <a:bodyPr/>
          <a:lstStyle/>
          <a:p>
            <a:r>
              <a:rPr lang="en-US"/>
              <a:t>
This screenshot demonstrates the execution of the PowerShell script in a live environment. It shows the audit of secret expiration dates for various App Registrations, highlighting expired credentials in red and active ones in green. The script then proceeds to remove expired secrets and rotate them by creating new credentials and storing them securely in Azure Key Vault. The output confirms successful operations and provides visual feedback on the automation process, validating the script’s functionality and effectiveness.</a:t>
            </a:r>
          </a:p>
        </p:txBody>
      </p:sp>
      <p:sp>
        <p:nvSpPr>
          <p:cNvPr id="4" name="Slide Number Placeholder 3">
            <a:extLst>
              <a:ext uri="{FF2B5EF4-FFF2-40B4-BE49-F238E27FC236}">
                <a16:creationId xmlns:a16="http://schemas.microsoft.com/office/drawing/2014/main" id="{DBEA2FBD-F7C5-E167-EF07-BF3E1A7B132B}"/>
              </a:ext>
            </a:extLst>
          </p:cNvPr>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25913739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9/11/2025</a:t>
            </a:fld>
            <a:endParaRPr lang="en-US" dirty="0"/>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dirty="0"/>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9/11/2025</a:t>
            </a:fld>
            <a:endParaRPr lang="en-US" dirty="0"/>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9/11/2025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9/11/2025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9/11/2025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9/11/2025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9/11/2025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9/11/2025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9/11/2025</a:t>
            </a:fld>
            <a:endParaRPr lang="en-US" dirty="0"/>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9/11/2025</a:t>
            </a:fld>
            <a:endParaRPr lang="en-US" dirty="0"/>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dirty="0"/>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9/11/2025</a:t>
            </a:fld>
            <a:endParaRPr lang="en-US" dirty="0"/>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9/11/2025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9/11/2025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9/11/2025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9/11/2025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dirty="0"/>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9/11/2025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9/11/2025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9/11/2025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9/11/2025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9/11/2025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dirty="0"/>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9/11/2025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9/11/2025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9/11/2025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9/11/2025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9/11/2025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9/11/2025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9/11/2025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9/11/2025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9/11/2025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4.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4.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247E5-148C-E24D-2627-62CB93E7CAC6}"/>
              </a:ext>
            </a:extLst>
          </p:cNvPr>
          <p:cNvSpPr>
            <a:spLocks noGrp="1"/>
          </p:cNvSpPr>
          <p:nvPr>
            <p:ph type="title"/>
          </p:nvPr>
        </p:nvSpPr>
        <p:spPr>
          <a:xfrm>
            <a:off x="793236" y="837735"/>
            <a:ext cx="10643616" cy="3346704"/>
          </a:xfrm>
        </p:spPr>
        <p:txBody>
          <a:bodyPr anchor="t">
            <a:normAutofit/>
          </a:bodyPr>
          <a:lstStyle/>
          <a:p>
            <a:r>
              <a:rPr lang="en-US"/>
              <a:t>Azure App Registration Secret Rotation Script</a:t>
            </a:r>
          </a:p>
        </p:txBody>
      </p:sp>
      <p:sp>
        <p:nvSpPr>
          <p:cNvPr id="3" name="Subtitle 2">
            <a:extLst>
              <a:ext uri="{FF2B5EF4-FFF2-40B4-BE49-F238E27FC236}">
                <a16:creationId xmlns:a16="http://schemas.microsoft.com/office/drawing/2014/main" id="{5CC2DB39-E30A-A68B-02E9-6BE3431B0975}"/>
              </a:ext>
            </a:extLst>
          </p:cNvPr>
          <p:cNvSpPr>
            <a:spLocks noGrp="1"/>
          </p:cNvSpPr>
          <p:nvPr>
            <p:ph type="subTitle" idx="1"/>
          </p:nvPr>
        </p:nvSpPr>
        <p:spPr>
          <a:xfrm>
            <a:off x="795528" y="4824760"/>
            <a:ext cx="10641324" cy="1194128"/>
          </a:xfrm>
        </p:spPr>
        <p:txBody>
          <a:bodyPr anchor="b">
            <a:normAutofit/>
          </a:bodyPr>
          <a:lstStyle/>
          <a:p>
            <a:r>
              <a:rPr lang="en-US"/>
              <a:t>Automating secure credential updates for cloud applications</a:t>
            </a:r>
          </a:p>
        </p:txBody>
      </p:sp>
    </p:spTree>
    <p:extLst>
      <p:ext uri="{BB962C8B-B14F-4D97-AF65-F5344CB8AC3E}">
        <p14:creationId xmlns:p14="http://schemas.microsoft.com/office/powerpoint/2010/main" val="282905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0756-EC3C-E3D2-2634-949811D9B76B}"/>
              </a:ext>
            </a:extLst>
          </p:cNvPr>
          <p:cNvSpPr>
            <a:spLocks noGrp="1"/>
          </p:cNvSpPr>
          <p:nvPr>
            <p:ph type="title"/>
          </p:nvPr>
        </p:nvSpPr>
        <p:spPr>
          <a:xfrm>
            <a:off x="1474076" y="1359775"/>
            <a:ext cx="7909560" cy="4334256"/>
          </a:xfrm>
        </p:spPr>
        <p:txBody>
          <a:bodyPr anchor="b">
            <a:normAutofit/>
          </a:bodyPr>
          <a:lstStyle/>
          <a:p>
            <a:r>
              <a:rPr lang="en-US"/>
              <a:t>Introduction</a:t>
            </a:r>
          </a:p>
        </p:txBody>
      </p:sp>
    </p:spTree>
    <p:extLst>
      <p:ext uri="{BB962C8B-B14F-4D97-AF65-F5344CB8AC3E}">
        <p14:creationId xmlns:p14="http://schemas.microsoft.com/office/powerpoint/2010/main" val="11928353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91EB9-4F4F-B7F4-022A-BD23B37CCCA1}"/>
              </a:ext>
            </a:extLst>
          </p:cNvPr>
          <p:cNvSpPr>
            <a:spLocks noGrp="1"/>
          </p:cNvSpPr>
          <p:nvPr>
            <p:ph type="title"/>
          </p:nvPr>
        </p:nvSpPr>
        <p:spPr>
          <a:xfrm>
            <a:off x="612648" y="599599"/>
            <a:ext cx="4672584" cy="1453896"/>
          </a:xfrm>
        </p:spPr>
        <p:txBody>
          <a:bodyPr anchor="t">
            <a:normAutofit/>
          </a:bodyPr>
          <a:lstStyle/>
          <a:p>
            <a:r>
              <a:rPr lang="en-US"/>
              <a:t>Overview of the Script</a:t>
            </a:r>
          </a:p>
        </p:txBody>
      </p:sp>
      <p:pic>
        <p:nvPicPr>
          <p:cNvPr id="5" name="Content Placeholder 4" descr="Cloud computing concept isolated on white background">
            <a:extLst>
              <a:ext uri="{FF2B5EF4-FFF2-40B4-BE49-F238E27FC236}">
                <a16:creationId xmlns:a16="http://schemas.microsoft.com/office/drawing/2014/main" id="{3D625D53-8295-4099-A371-DCBA7E248CC6}"/>
              </a:ext>
            </a:extLst>
          </p:cNvPr>
          <p:cNvPicPr>
            <a:picLocks noGrp="1" noChangeAspect="1"/>
          </p:cNvPicPr>
          <p:nvPr>
            <p:ph type="pic" sz="quarter" idx="15"/>
          </p:nvPr>
        </p:nvPicPr>
        <p:blipFill>
          <a:blip r:embed="rId3"/>
          <a:srcRect l="1293" r="3316" b="3"/>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CFACC0E0-2E92-0CD6-9927-742F2444D46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Secret and Certificate Rotation</a:t>
            </a:r>
          </a:p>
          <a:p>
            <a:pPr marL="0" lvl="1" indent="0">
              <a:buFont typeface="Arial" panose="020B0604020202020204" pitchFamily="34" charset="0"/>
              <a:buNone/>
            </a:pPr>
            <a:r>
              <a:t>The script automates secure rotation of secrets and certificates for Azure Active Directory App Registrations.</a:t>
            </a:r>
            <a:endParaRPr lang="en-US"/>
          </a:p>
          <a:p>
            <a:pPr marL="0" indent="0">
              <a:spcBef>
                <a:spcPts val="2500"/>
              </a:spcBef>
              <a:buFont typeface="Arial" panose="020B0604020202020204" pitchFamily="34" charset="0"/>
              <a:buNone/>
            </a:pPr>
            <a:r>
              <a:rPr lang="en-US" b="1"/>
              <a:t>Secure Storage and Access Management</a:t>
            </a:r>
          </a:p>
          <a:p>
            <a:pPr marL="0" lvl="1" indent="0">
              <a:buFont typeface="Arial" panose="020B0604020202020204" pitchFamily="34" charset="0"/>
              <a:buNone/>
            </a:pPr>
            <a:r>
              <a:t>Expired credentials are securely stored in Azure Key Vault with managed identity managing access policies.</a:t>
            </a:r>
            <a:endParaRPr lang="en-US"/>
          </a:p>
          <a:p>
            <a:pPr marL="0" indent="0">
              <a:spcBef>
                <a:spcPts val="2500"/>
              </a:spcBef>
              <a:buFont typeface="Arial" panose="020B0604020202020204" pitchFamily="34" charset="0"/>
              <a:buNone/>
            </a:pPr>
            <a:r>
              <a:rPr lang="en-US" b="1"/>
              <a:t>Network and Policy Configuration</a:t>
            </a:r>
          </a:p>
          <a:p>
            <a:pPr marL="0" lvl="1" indent="0">
              <a:buFont typeface="Arial" panose="020B0604020202020204" pitchFamily="34" charset="0"/>
              <a:buNone/>
            </a:pPr>
            <a:r>
              <a:t>The script manages network firewall rules and access policies to enable secure secret management.</a:t>
            </a:r>
            <a:endParaRPr lang="en-US"/>
          </a:p>
          <a:p>
            <a:pPr marL="0" indent="0">
              <a:spcBef>
                <a:spcPts val="2500"/>
              </a:spcBef>
              <a:buFont typeface="Arial" panose="020B0604020202020204" pitchFamily="34" charset="0"/>
              <a:buNone/>
            </a:pPr>
            <a:r>
              <a:rPr lang="en-US" b="1"/>
              <a:t>Error Handling and Logging</a:t>
            </a:r>
          </a:p>
          <a:p>
            <a:pPr marL="0" lvl="1" indent="0">
              <a:buFont typeface="Arial" panose="020B0604020202020204" pitchFamily="34" charset="0"/>
              <a:buNone/>
            </a:pPr>
            <a:r>
              <a:t>Robust error handling and logging ensure operational efficiency and security monitoring.</a:t>
            </a:r>
            <a:endParaRPr lang="en-US"/>
          </a:p>
        </p:txBody>
      </p:sp>
    </p:spTree>
    <p:extLst>
      <p:ext uri="{BB962C8B-B14F-4D97-AF65-F5344CB8AC3E}">
        <p14:creationId xmlns:p14="http://schemas.microsoft.com/office/powerpoint/2010/main" val="27068366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E409-4D35-114F-FEBB-7B880C18FDFC}"/>
              </a:ext>
            </a:extLst>
          </p:cNvPr>
          <p:cNvSpPr>
            <a:spLocks noGrp="1"/>
          </p:cNvSpPr>
          <p:nvPr>
            <p:ph type="title"/>
          </p:nvPr>
        </p:nvSpPr>
        <p:spPr>
          <a:xfrm>
            <a:off x="1474076" y="1359775"/>
            <a:ext cx="7909560" cy="4334256"/>
          </a:xfrm>
        </p:spPr>
        <p:txBody>
          <a:bodyPr anchor="b">
            <a:normAutofit/>
          </a:bodyPr>
          <a:lstStyle/>
          <a:p>
            <a:r>
              <a:rPr lang="en-US"/>
              <a:t>Prerequisites</a:t>
            </a:r>
          </a:p>
        </p:txBody>
      </p:sp>
    </p:spTree>
    <p:extLst>
      <p:ext uri="{BB962C8B-B14F-4D97-AF65-F5344CB8AC3E}">
        <p14:creationId xmlns:p14="http://schemas.microsoft.com/office/powerpoint/2010/main" val="3498901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6994-C5C9-4E77-7A31-941FA0F38036}"/>
              </a:ext>
            </a:extLst>
          </p:cNvPr>
          <p:cNvSpPr>
            <a:spLocks noGrp="1"/>
          </p:cNvSpPr>
          <p:nvPr>
            <p:ph type="title"/>
          </p:nvPr>
        </p:nvSpPr>
        <p:spPr>
          <a:xfrm>
            <a:off x="612648" y="599599"/>
            <a:ext cx="4672584" cy="1453896"/>
          </a:xfrm>
        </p:spPr>
        <p:txBody>
          <a:bodyPr anchor="t">
            <a:normAutofit/>
          </a:bodyPr>
          <a:lstStyle/>
          <a:p>
            <a:r>
              <a:rPr lang="en-US"/>
              <a:t>Required Modules and Permissions</a:t>
            </a:r>
          </a:p>
        </p:txBody>
      </p:sp>
      <p:pic>
        <p:nvPicPr>
          <p:cNvPr id="5" name="Content Placeholder 4" descr="Login web form">
            <a:extLst>
              <a:ext uri="{FF2B5EF4-FFF2-40B4-BE49-F238E27FC236}">
                <a16:creationId xmlns:a16="http://schemas.microsoft.com/office/drawing/2014/main" id="{7CAA6B00-2500-4040-BB96-66C0AF34CA3A}"/>
              </a:ext>
            </a:extLst>
          </p:cNvPr>
          <p:cNvPicPr>
            <a:picLocks noGrp="1" noChangeAspect="1"/>
          </p:cNvPicPr>
          <p:nvPr>
            <p:ph type="pic" sz="quarter" idx="15"/>
          </p:nvPr>
        </p:nvPicPr>
        <p:blipFill>
          <a:blip r:embed="rId3"/>
          <a:srcRect l="8111" r="2853" b="-3"/>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1B2D1CF3-8E26-7D4F-C7AD-D397054317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Module Installation</a:t>
            </a:r>
          </a:p>
          <a:p>
            <a:pPr marL="0" lvl="1" indent="0">
              <a:buFont typeface="Arial" panose="020B0604020202020204" pitchFamily="34" charset="0"/>
              <a:buNone/>
            </a:pPr>
            <a:r>
              <a:t>Install Az and Microsoft.Graph.Applications modules using PowerShell Import-Module commands for script execution.</a:t>
            </a:r>
            <a:endParaRPr lang="en-US"/>
          </a:p>
          <a:p>
            <a:pPr marL="0" indent="0">
              <a:spcBef>
                <a:spcPts val="2500"/>
              </a:spcBef>
              <a:buFont typeface="Arial" panose="020B0604020202020204" pitchFamily="34" charset="0"/>
              <a:buNone/>
            </a:pPr>
            <a:r>
              <a:rPr lang="en-US" b="1"/>
              <a:t>Managed Identity Requirement</a:t>
            </a:r>
          </a:p>
          <a:p>
            <a:pPr marL="0" lvl="1" indent="0">
              <a:buFont typeface="Arial" panose="020B0604020202020204" pitchFamily="34" charset="0"/>
              <a:buNone/>
            </a:pPr>
            <a:r>
              <a:t>Script uses managed identity for authentication, requiring a system-assigned identity in Azure Automation or VM.</a:t>
            </a:r>
            <a:endParaRPr lang="en-US"/>
          </a:p>
          <a:p>
            <a:pPr marL="0" indent="0">
              <a:spcBef>
                <a:spcPts val="2500"/>
              </a:spcBef>
              <a:buFont typeface="Arial" panose="020B0604020202020204" pitchFamily="34" charset="0"/>
              <a:buNone/>
            </a:pPr>
            <a:r>
              <a:rPr lang="en-US" b="1"/>
              <a:t>Access and Permissions</a:t>
            </a:r>
          </a:p>
          <a:p>
            <a:pPr marL="0" lvl="1" indent="0">
              <a:buFont typeface="Arial" panose="020B0604020202020204" pitchFamily="34" charset="0"/>
              <a:buNone/>
            </a:pPr>
            <a:r>
              <a:t>Managed identity needs Contributor or Owner subscription access and Key Vault Administrator permissions to manage secrets.</a:t>
            </a:r>
            <a:endParaRPr lang="en-US"/>
          </a:p>
          <a:p>
            <a:pPr marL="0" indent="0">
              <a:spcBef>
                <a:spcPts val="2500"/>
              </a:spcBef>
              <a:buFont typeface="Arial" panose="020B0604020202020204" pitchFamily="34" charset="0"/>
              <a:buNone/>
            </a:pPr>
            <a:r>
              <a:rPr lang="en-US" b="1"/>
              <a:t>Microsoft Graph API Permissions</a:t>
            </a:r>
          </a:p>
          <a:p>
            <a:pPr marL="0" lvl="1" indent="0">
              <a:buFont typeface="Arial" panose="020B0604020202020204" pitchFamily="34" charset="0"/>
              <a:buNone/>
            </a:pPr>
            <a:r>
              <a:t>Permissions like Application.ReadWrite.All and Directory.ReadWrite.All are required to interact with Microsoft Graph API securely.</a:t>
            </a:r>
            <a:endParaRPr lang="en-US"/>
          </a:p>
        </p:txBody>
      </p:sp>
    </p:spTree>
    <p:extLst>
      <p:ext uri="{BB962C8B-B14F-4D97-AF65-F5344CB8AC3E}">
        <p14:creationId xmlns:p14="http://schemas.microsoft.com/office/powerpoint/2010/main" val="121754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9E032-3213-B3DC-5FD7-4ED2A347DB16}"/>
              </a:ext>
            </a:extLst>
          </p:cNvPr>
          <p:cNvSpPr>
            <a:spLocks noGrp="1"/>
          </p:cNvSpPr>
          <p:nvPr>
            <p:ph type="title"/>
          </p:nvPr>
        </p:nvSpPr>
        <p:spPr>
          <a:xfrm>
            <a:off x="1474076" y="1359775"/>
            <a:ext cx="7909560" cy="4334256"/>
          </a:xfrm>
        </p:spPr>
        <p:txBody>
          <a:bodyPr anchor="b">
            <a:normAutofit/>
          </a:bodyPr>
          <a:lstStyle/>
          <a:p>
            <a:r>
              <a:rPr lang="en-US"/>
              <a:t>Environment Setup</a:t>
            </a:r>
          </a:p>
        </p:txBody>
      </p:sp>
    </p:spTree>
    <p:extLst>
      <p:ext uri="{BB962C8B-B14F-4D97-AF65-F5344CB8AC3E}">
        <p14:creationId xmlns:p14="http://schemas.microsoft.com/office/powerpoint/2010/main" val="2462763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333A-BA61-E3F6-1B94-9CE6966F60D8}"/>
              </a:ext>
            </a:extLst>
          </p:cNvPr>
          <p:cNvSpPr>
            <a:spLocks noGrp="1"/>
          </p:cNvSpPr>
          <p:nvPr>
            <p:ph type="title"/>
          </p:nvPr>
        </p:nvSpPr>
        <p:spPr>
          <a:xfrm>
            <a:off x="7204306" y="817137"/>
            <a:ext cx="4192166" cy="1527048"/>
          </a:xfrm>
        </p:spPr>
        <p:txBody>
          <a:bodyPr anchor="b">
            <a:normAutofit/>
          </a:bodyPr>
          <a:lstStyle/>
          <a:p>
            <a:r>
              <a:rPr lang="en-US"/>
              <a:t>Configuration Parameters</a:t>
            </a:r>
          </a:p>
        </p:txBody>
      </p:sp>
      <p:pic>
        <p:nvPicPr>
          <p:cNvPr id="5" name="Content Placeholder 4" descr="Digital work of Cloud Computing and Network Security">
            <a:extLst>
              <a:ext uri="{FF2B5EF4-FFF2-40B4-BE49-F238E27FC236}">
                <a16:creationId xmlns:a16="http://schemas.microsoft.com/office/drawing/2014/main" id="{370FCCCE-A1C5-4368-B793-B8F219662D05}"/>
              </a:ext>
            </a:extLst>
          </p:cNvPr>
          <p:cNvPicPr>
            <a:picLocks noGrp="1" noChangeAspect="1"/>
          </p:cNvPicPr>
          <p:nvPr>
            <p:ph type="pic" sz="quarter" idx="18"/>
          </p:nvPr>
        </p:nvPicPr>
        <p:blipFill>
          <a:blip r:embed="rId3"/>
          <a:srcRect l="11047" r="20712" b="1"/>
          <a:stretch>
            <a:fillRect/>
          </a:stretch>
        </p:blipFill>
        <p:spPr>
          <a:xfrm>
            <a:off x="349839" y="361188"/>
            <a:ext cx="6272784" cy="6135624"/>
          </a:xfrm>
          <a:prstGeom prst="rect">
            <a:avLst/>
          </a:prstGeom>
          <a:noFill/>
        </p:spPr>
      </p:pic>
      <p:sp>
        <p:nvSpPr>
          <p:cNvPr id="4" name="Content Placeholder 3">
            <a:extLst>
              <a:ext uri="{FF2B5EF4-FFF2-40B4-BE49-F238E27FC236}">
                <a16:creationId xmlns:a16="http://schemas.microsoft.com/office/drawing/2014/main" id="{52B21339-BF7A-F498-73DE-9E20AB0C41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04234" y="2637763"/>
            <a:ext cx="4192899" cy="3411099"/>
          </a:xfrm>
        </p:spPr>
        <p:txBody>
          <a:bodyPr>
            <a:normAutofit/>
          </a:bodyPr>
          <a:lstStyle/>
          <a:p>
            <a:pPr marL="0" indent="0">
              <a:spcBef>
                <a:spcPts val="2500"/>
              </a:spcBef>
              <a:buFont typeface="Arial" panose="020B0604020202020204" pitchFamily="34" charset="0"/>
              <a:buNone/>
            </a:pPr>
            <a:r>
              <a:rPr lang="en-US" b="1"/>
              <a:t>Essential Configuration Parameters</a:t>
            </a:r>
          </a:p>
          <a:p>
            <a:pPr marL="0" lvl="1" indent="0">
              <a:buFont typeface="Arial" panose="020B0604020202020204" pitchFamily="34" charset="0"/>
              <a:buNone/>
            </a:pPr>
            <a:r>
              <a:t>Subscription name, Key Vault name, resource group, and App Registration display name are required for the script.</a:t>
            </a:r>
            <a:endParaRPr lang="en-US"/>
          </a:p>
          <a:p>
            <a:pPr marL="0" indent="0">
              <a:spcBef>
                <a:spcPts val="2500"/>
              </a:spcBef>
              <a:buFont typeface="Arial" panose="020B0604020202020204" pitchFamily="34" charset="0"/>
              <a:buNone/>
            </a:pPr>
            <a:r>
              <a:rPr lang="en-US" b="1"/>
              <a:t>Purpose of Parameters</a:t>
            </a:r>
          </a:p>
          <a:p>
            <a:pPr marL="0" lvl="1" indent="0">
              <a:buFont typeface="Arial" panose="020B0604020202020204" pitchFamily="34" charset="0"/>
              <a:buNone/>
            </a:pPr>
            <a:r>
              <a:t>These parameters help identify and manage Azure resources accurately within the script.</a:t>
            </a:r>
            <a:endParaRPr lang="en-US"/>
          </a:p>
          <a:p>
            <a:pPr marL="0" indent="0">
              <a:spcBef>
                <a:spcPts val="2500"/>
              </a:spcBef>
              <a:buFont typeface="Arial" panose="020B0604020202020204" pitchFamily="34" charset="0"/>
              <a:buNone/>
            </a:pPr>
            <a:r>
              <a:rPr lang="en-US" b="1"/>
              <a:t>Secure Operations</a:t>
            </a:r>
          </a:p>
          <a:p>
            <a:pPr marL="0" lvl="1" indent="0">
              <a:buFont typeface="Arial" panose="020B0604020202020204" pitchFamily="34" charset="0"/>
              <a:buNone/>
            </a:pPr>
            <a:r>
              <a:t>Proper configuration ensures authentication, resource access, and secure secret rotation and storage.</a:t>
            </a:r>
            <a:endParaRPr lang="en-US"/>
          </a:p>
        </p:txBody>
      </p:sp>
    </p:spTree>
    <p:extLst>
      <p:ext uri="{BB962C8B-B14F-4D97-AF65-F5344CB8AC3E}">
        <p14:creationId xmlns:p14="http://schemas.microsoft.com/office/powerpoint/2010/main" val="351995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52D3-0E95-DC6F-E920-4F690436280E}"/>
              </a:ext>
            </a:extLst>
          </p:cNvPr>
          <p:cNvSpPr>
            <a:spLocks noGrp="1"/>
          </p:cNvSpPr>
          <p:nvPr>
            <p:ph type="title"/>
          </p:nvPr>
        </p:nvSpPr>
        <p:spPr>
          <a:xfrm>
            <a:off x="1474076" y="1359775"/>
            <a:ext cx="7909560" cy="4334256"/>
          </a:xfrm>
        </p:spPr>
        <p:txBody>
          <a:bodyPr anchor="b">
            <a:normAutofit/>
          </a:bodyPr>
          <a:lstStyle/>
          <a:p>
            <a:r>
              <a:rPr lang="en-US"/>
              <a:t>Script Breakdown</a:t>
            </a:r>
          </a:p>
        </p:txBody>
      </p:sp>
    </p:spTree>
    <p:extLst>
      <p:ext uri="{BB962C8B-B14F-4D97-AF65-F5344CB8AC3E}">
        <p14:creationId xmlns:p14="http://schemas.microsoft.com/office/powerpoint/2010/main" val="1694929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6401-A9DA-19CC-8311-50D3886CB4D2}"/>
              </a:ext>
            </a:extLst>
          </p:cNvPr>
          <p:cNvSpPr>
            <a:spLocks noGrp="1"/>
          </p:cNvSpPr>
          <p:nvPr>
            <p:ph type="title"/>
          </p:nvPr>
        </p:nvSpPr>
        <p:spPr>
          <a:xfrm>
            <a:off x="612648" y="599599"/>
            <a:ext cx="4672584" cy="1453896"/>
          </a:xfrm>
        </p:spPr>
        <p:txBody>
          <a:bodyPr anchor="t">
            <a:normAutofit/>
          </a:bodyPr>
          <a:lstStyle/>
          <a:p>
            <a:r>
              <a:rPr lang="en-US"/>
              <a:t>Functional Components</a:t>
            </a:r>
          </a:p>
        </p:txBody>
      </p:sp>
      <p:pic>
        <p:nvPicPr>
          <p:cNvPr id="5" name="Content Placeholder 4" descr="Laptop, smart phone and computer service on digital background">
            <a:extLst>
              <a:ext uri="{FF2B5EF4-FFF2-40B4-BE49-F238E27FC236}">
                <a16:creationId xmlns:a16="http://schemas.microsoft.com/office/drawing/2014/main" id="{23EF4C36-959C-42D7-9938-3C87D3F5AFDA}"/>
              </a:ext>
            </a:extLst>
          </p:cNvPr>
          <p:cNvPicPr>
            <a:picLocks noGrp="1" noChangeAspect="1"/>
          </p:cNvPicPr>
          <p:nvPr>
            <p:ph type="pic" sz="quarter" idx="15"/>
          </p:nvPr>
        </p:nvPicPr>
        <p:blipFill>
          <a:blip r:embed="rId3"/>
          <a:srcRect t="10744" r="2" b="10636"/>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D117FF03-5D5A-3761-618F-80372D63623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Script Initialization</a:t>
            </a:r>
          </a:p>
          <a:p>
            <a:pPr marL="0" lvl="1" indent="0">
              <a:buFont typeface="Arial" panose="020B0604020202020204" pitchFamily="34" charset="0"/>
              <a:buNone/>
            </a:pPr>
            <a:r>
              <a:t>The script starts with module imports and authenticates using managed identity for secure access.</a:t>
            </a:r>
            <a:endParaRPr lang="en-US"/>
          </a:p>
          <a:p>
            <a:pPr marL="0" indent="0">
              <a:spcBef>
                <a:spcPts val="2500"/>
              </a:spcBef>
              <a:buFont typeface="Arial" panose="020B0604020202020204" pitchFamily="34" charset="0"/>
              <a:buNone/>
            </a:pPr>
            <a:r>
              <a:rPr lang="en-US" b="1"/>
              <a:t>Secret Rotation Function</a:t>
            </a:r>
          </a:p>
          <a:p>
            <a:pPr marL="0" lvl="1" indent="0">
              <a:buFont typeface="Arial" panose="020B0604020202020204" pitchFamily="34" charset="0"/>
              <a:buNone/>
            </a:pPr>
            <a:r>
              <a:t>rotate_expired_secrets updates firewall rules, creates new secrets, and stores them securely.</a:t>
            </a:r>
            <a:endParaRPr lang="en-US"/>
          </a:p>
          <a:p>
            <a:pPr marL="0" indent="0">
              <a:spcBef>
                <a:spcPts val="2500"/>
              </a:spcBef>
              <a:buFont typeface="Arial" panose="020B0604020202020204" pitchFamily="34" charset="0"/>
              <a:buNone/>
            </a:pPr>
            <a:r>
              <a:rPr lang="en-US" b="1"/>
              <a:t>Expired Secret Removal</a:t>
            </a:r>
          </a:p>
          <a:p>
            <a:pPr marL="0" lvl="1" indent="0">
              <a:buFont typeface="Arial" panose="020B0604020202020204" pitchFamily="34" charset="0"/>
              <a:buNone/>
            </a:pPr>
            <a:r>
              <a:t>remove_expired_credential_secrets deletes expired credentials from App Registrations for security.</a:t>
            </a:r>
            <a:endParaRPr lang="en-US"/>
          </a:p>
          <a:p>
            <a:pPr marL="0" indent="0">
              <a:spcBef>
                <a:spcPts val="2500"/>
              </a:spcBef>
              <a:buFont typeface="Arial" panose="020B0604020202020204" pitchFamily="34" charset="0"/>
              <a:buNone/>
            </a:pPr>
            <a:r>
              <a:rPr lang="en-US" b="1"/>
              <a:t>Expiration Audit and Execution</a:t>
            </a:r>
          </a:p>
          <a:p>
            <a:pPr marL="0" lvl="1" indent="0">
              <a:buFont typeface="Arial" panose="020B0604020202020204" pitchFamily="34" charset="0"/>
              <a:buNone/>
            </a:pPr>
            <a:r>
              <a:t>Audit flags credentials expiring soon and rotation loop processes secret replacement systematically.</a:t>
            </a:r>
            <a:endParaRPr lang="en-US"/>
          </a:p>
        </p:txBody>
      </p:sp>
    </p:spTree>
    <p:extLst>
      <p:ext uri="{BB962C8B-B14F-4D97-AF65-F5344CB8AC3E}">
        <p14:creationId xmlns:p14="http://schemas.microsoft.com/office/powerpoint/2010/main" val="1424407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538A-C568-A703-B526-27E3EC45AC0E}"/>
              </a:ext>
            </a:extLst>
          </p:cNvPr>
          <p:cNvSpPr>
            <a:spLocks noGrp="1"/>
          </p:cNvSpPr>
          <p:nvPr>
            <p:ph type="title"/>
          </p:nvPr>
        </p:nvSpPr>
        <p:spPr>
          <a:xfrm>
            <a:off x="1474076" y="1359775"/>
            <a:ext cx="7909560" cy="4334256"/>
          </a:xfrm>
        </p:spPr>
        <p:txBody>
          <a:bodyPr anchor="b">
            <a:normAutofit/>
          </a:bodyPr>
          <a:lstStyle/>
          <a:p>
            <a:r>
              <a:rPr lang="en-US"/>
              <a:t>Key Features</a:t>
            </a:r>
          </a:p>
        </p:txBody>
      </p:sp>
    </p:spTree>
    <p:extLst>
      <p:ext uri="{BB962C8B-B14F-4D97-AF65-F5344CB8AC3E}">
        <p14:creationId xmlns:p14="http://schemas.microsoft.com/office/powerpoint/2010/main" val="3158734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5F7A-C02D-2C4B-77DA-FA7C569C9673}"/>
              </a:ext>
            </a:extLst>
          </p:cNvPr>
          <p:cNvSpPr>
            <a:spLocks noGrp="1"/>
          </p:cNvSpPr>
          <p:nvPr>
            <p:ph type="title"/>
          </p:nvPr>
        </p:nvSpPr>
        <p:spPr>
          <a:xfrm>
            <a:off x="612648" y="599599"/>
            <a:ext cx="4672584" cy="1453896"/>
          </a:xfrm>
        </p:spPr>
        <p:txBody>
          <a:bodyPr anchor="t">
            <a:normAutofit/>
          </a:bodyPr>
          <a:lstStyle/>
          <a:p>
            <a:r>
              <a:rPr lang="en-US"/>
              <a:t>Security and Automation Enhancements</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DB98D1A4-DBD6-4699-9007-BDF6602A4E10}"/>
              </a:ext>
            </a:extLst>
          </p:cNvPr>
          <p:cNvPicPr>
            <a:picLocks noGrp="1" noChangeAspect="1"/>
          </p:cNvPicPr>
          <p:nvPr>
            <p:ph type="pic" sz="quarter" idx="15"/>
          </p:nvPr>
        </p:nvPicPr>
        <p:blipFill>
          <a:blip r:embed="rId3"/>
          <a:srcRect l="6938" r="10387" b="-2"/>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D709A484-A2DD-F5E5-BA77-2B3FE3EDE2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Dynamic Network Access Control</a:t>
            </a:r>
          </a:p>
          <a:p>
            <a:pPr marL="0" lvl="1" indent="0">
              <a:buFont typeface="Arial" panose="020B0604020202020204" pitchFamily="34" charset="0"/>
              <a:buNone/>
            </a:pPr>
            <a:r>
              <a:t>The script dynamically updates Key Vault network ACLs with IP addresses to maintain secure access during secret operations.</a:t>
            </a:r>
            <a:endParaRPr lang="en-US"/>
          </a:p>
          <a:p>
            <a:pPr marL="0" indent="0">
              <a:spcBef>
                <a:spcPts val="2500"/>
              </a:spcBef>
              <a:buFont typeface="Arial" panose="020B0604020202020204" pitchFamily="34" charset="0"/>
              <a:buNone/>
            </a:pPr>
            <a:r>
              <a:rPr lang="en-US" b="1"/>
              <a:t>Error Handling and Reliability</a:t>
            </a:r>
          </a:p>
          <a:p>
            <a:pPr marL="0" lvl="1" indent="0">
              <a:buFont typeface="Arial" panose="020B0604020202020204" pitchFamily="34" charset="0"/>
              <a:buNone/>
            </a:pPr>
            <a:r>
              <a:t>Error handling mechanisms capture IP-related access errors and retry operations to improve script reliability.</a:t>
            </a:r>
            <a:endParaRPr lang="en-US"/>
          </a:p>
          <a:p>
            <a:pPr marL="0" indent="0">
              <a:spcBef>
                <a:spcPts val="2500"/>
              </a:spcBef>
              <a:buFont typeface="Arial" panose="020B0604020202020204" pitchFamily="34" charset="0"/>
              <a:buNone/>
            </a:pPr>
            <a:r>
              <a:rPr lang="en-US" b="1"/>
              <a:t>Credential Lifecycle Management</a:t>
            </a:r>
          </a:p>
          <a:p>
            <a:pPr marL="0" lvl="1" indent="0">
              <a:buFont typeface="Arial" panose="020B0604020202020204" pitchFamily="34" charset="0"/>
              <a:buNone/>
            </a:pPr>
            <a:r>
              <a:t>Secrets are securely rotated and stored to reduce risks from expired or compromised credentials.</a:t>
            </a:r>
            <a:endParaRPr lang="en-US"/>
          </a:p>
          <a:p>
            <a:pPr marL="0" indent="0">
              <a:spcBef>
                <a:spcPts val="2500"/>
              </a:spcBef>
              <a:buFont typeface="Arial" panose="020B0604020202020204" pitchFamily="34" charset="0"/>
              <a:buNone/>
            </a:pPr>
            <a:r>
              <a:rPr lang="en-US" b="1"/>
              <a:t>Comprehensive Logging and Traceability</a:t>
            </a:r>
          </a:p>
          <a:p>
            <a:pPr marL="0" lvl="1" indent="0">
              <a:buFont typeface="Arial" panose="020B0604020202020204" pitchFamily="34" charset="0"/>
              <a:buNone/>
            </a:pPr>
            <a:r>
              <a:t>Logging ensures traceability of IP additions and errors, supporting auditing and compliance requirements.</a:t>
            </a:r>
            <a:endParaRPr lang="en-US"/>
          </a:p>
        </p:txBody>
      </p:sp>
    </p:spTree>
    <p:extLst>
      <p:ext uri="{BB962C8B-B14F-4D97-AF65-F5344CB8AC3E}">
        <p14:creationId xmlns:p14="http://schemas.microsoft.com/office/powerpoint/2010/main" val="23281118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35E70-BF44-C37A-B0FE-176103E51D9C}"/>
              </a:ext>
            </a:extLst>
          </p:cNvPr>
          <p:cNvSpPr>
            <a:spLocks noGrp="1"/>
          </p:cNvSpPr>
          <p:nvPr>
            <p:ph type="title"/>
          </p:nvPr>
        </p:nvSpPr>
        <p:spPr>
          <a:xfrm>
            <a:off x="1474076" y="1359775"/>
            <a:ext cx="7909560" cy="4334256"/>
          </a:xfrm>
        </p:spPr>
        <p:txBody>
          <a:bodyPr anchor="b">
            <a:normAutofit/>
          </a:bodyPr>
          <a:lstStyle/>
          <a:p>
            <a:r>
              <a:rPr lang="en-US"/>
              <a:t>Demo Results</a:t>
            </a:r>
          </a:p>
        </p:txBody>
      </p:sp>
    </p:spTree>
    <p:extLst>
      <p:ext uri="{BB962C8B-B14F-4D97-AF65-F5344CB8AC3E}">
        <p14:creationId xmlns:p14="http://schemas.microsoft.com/office/powerpoint/2010/main" val="2321512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6804E-541F-64E6-2394-387486336124}"/>
              </a:ext>
            </a:extLst>
          </p:cNvPr>
          <p:cNvSpPr>
            <a:spLocks noGrp="1"/>
          </p:cNvSpPr>
          <p:nvPr>
            <p:ph type="title"/>
          </p:nvPr>
        </p:nvSpPr>
        <p:spPr>
          <a:xfrm>
            <a:off x="612648" y="599599"/>
            <a:ext cx="4672584" cy="1453896"/>
          </a:xfrm>
        </p:spPr>
        <p:txBody>
          <a:bodyPr anchor="t">
            <a:normAutofit/>
          </a:bodyPr>
          <a:lstStyle/>
          <a:p>
            <a:r>
              <a:rPr lang="en-US"/>
              <a:t>Execution Output Screenshot</a:t>
            </a:r>
          </a:p>
        </p:txBody>
      </p:sp>
      <p:pic>
        <p:nvPicPr>
          <p:cNvPr id="5" name="Content Placeholder 4" descr="Abstract 3D illustration.">
            <a:extLst>
              <a:ext uri="{FF2B5EF4-FFF2-40B4-BE49-F238E27FC236}">
                <a16:creationId xmlns:a16="http://schemas.microsoft.com/office/drawing/2014/main" id="{16354CDB-CAC2-46D7-BC43-6F44130EC870}"/>
              </a:ext>
            </a:extLst>
          </p:cNvPr>
          <p:cNvPicPr>
            <a:picLocks noGrp="1" noChangeAspect="1"/>
          </p:cNvPicPr>
          <p:nvPr>
            <p:ph type="pic" sz="quarter" idx="15"/>
          </p:nvPr>
        </p:nvPicPr>
        <p:blipFill>
          <a:blip r:embed="rId3"/>
          <a:srcRect l="2922" r="1687" b="3"/>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6BE8DA29-3491-AA42-E0EB-58B313C7B77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Secret Expiration Audit</a:t>
            </a:r>
          </a:p>
          <a:p>
            <a:pPr marL="0" lvl="1" indent="0">
              <a:buFont typeface="Arial" panose="020B0604020202020204" pitchFamily="34" charset="0"/>
              <a:buNone/>
            </a:pPr>
            <a:r>
              <a:t>The script audits secret expiration dates, highlighting expired credentials in red and active ones in green for clarity.</a:t>
            </a:r>
            <a:endParaRPr lang="en-US"/>
          </a:p>
          <a:p>
            <a:pPr marL="0" indent="0">
              <a:spcBef>
                <a:spcPts val="2500"/>
              </a:spcBef>
              <a:buFont typeface="Arial" panose="020B0604020202020204" pitchFamily="34" charset="0"/>
              <a:buNone/>
            </a:pPr>
            <a:r>
              <a:rPr lang="en-US" b="1"/>
              <a:t>Secret Rotation Process</a:t>
            </a:r>
          </a:p>
          <a:p>
            <a:pPr marL="0" lvl="1" indent="0">
              <a:buFont typeface="Arial" panose="020B0604020202020204" pitchFamily="34" charset="0"/>
              <a:buNone/>
            </a:pPr>
            <a:r>
              <a:t>Expired secrets are removed and replaced with new credentials, ensuring continuous security and access management.</a:t>
            </a:r>
            <a:endParaRPr lang="en-US"/>
          </a:p>
          <a:p>
            <a:pPr marL="0" indent="0">
              <a:spcBef>
                <a:spcPts val="2500"/>
              </a:spcBef>
              <a:buFont typeface="Arial" panose="020B0604020202020204" pitchFamily="34" charset="0"/>
              <a:buNone/>
            </a:pPr>
            <a:r>
              <a:rPr lang="en-US" b="1"/>
              <a:t>Secure Storage in Azure Key Vault</a:t>
            </a:r>
          </a:p>
          <a:p>
            <a:pPr marL="0" lvl="1" indent="0">
              <a:buFont typeface="Arial" panose="020B0604020202020204" pitchFamily="34" charset="0"/>
              <a:buNone/>
            </a:pPr>
            <a:r>
              <a:t>New credentials are securely stored in Azure Key Vault, enhancing security and centralized secret management.</a:t>
            </a:r>
            <a:endParaRPr lang="en-US"/>
          </a:p>
          <a:p>
            <a:pPr marL="0" indent="0">
              <a:spcBef>
                <a:spcPts val="2500"/>
              </a:spcBef>
              <a:buFont typeface="Arial" panose="020B0604020202020204" pitchFamily="34" charset="0"/>
              <a:buNone/>
            </a:pPr>
            <a:r>
              <a:rPr lang="en-US" b="1"/>
              <a:t>Automation Validation</a:t>
            </a:r>
          </a:p>
          <a:p>
            <a:pPr marL="0" lvl="1" indent="0">
              <a:buFont typeface="Arial" panose="020B0604020202020204" pitchFamily="34" charset="0"/>
              <a:buNone/>
            </a:pPr>
            <a:r>
              <a:t>Output confirms successful script execution and effective automation, providing visual feedback and validation.</a:t>
            </a:r>
            <a:endParaRPr lang="en-US"/>
          </a:p>
        </p:txBody>
      </p:sp>
    </p:spTree>
    <p:extLst>
      <p:ext uri="{BB962C8B-B14F-4D97-AF65-F5344CB8AC3E}">
        <p14:creationId xmlns:p14="http://schemas.microsoft.com/office/powerpoint/2010/main" val="5391079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1374E-2677-2F37-E07C-9AABEE820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D8060-666C-002C-CC93-59F541588809}"/>
              </a:ext>
            </a:extLst>
          </p:cNvPr>
          <p:cNvSpPr>
            <a:spLocks noGrp="1"/>
          </p:cNvSpPr>
          <p:nvPr>
            <p:ph type="title"/>
          </p:nvPr>
        </p:nvSpPr>
        <p:spPr>
          <a:xfrm>
            <a:off x="612648" y="599599"/>
            <a:ext cx="4672584" cy="1453896"/>
          </a:xfrm>
        </p:spPr>
        <p:txBody>
          <a:bodyPr anchor="t">
            <a:normAutofit/>
          </a:bodyPr>
          <a:lstStyle/>
          <a:p>
            <a:r>
              <a:rPr lang="en-US"/>
              <a:t>Execution Output Screenshot</a:t>
            </a:r>
          </a:p>
        </p:txBody>
      </p:sp>
      <p:sp>
        <p:nvSpPr>
          <p:cNvPr id="4" name="Content Placeholder 3">
            <a:extLst>
              <a:ext uri="{FF2B5EF4-FFF2-40B4-BE49-F238E27FC236}">
                <a16:creationId xmlns:a16="http://schemas.microsoft.com/office/drawing/2014/main" id="{C5BF2EB9-4E4B-58E3-6B4F-2BD578762B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Secret Expiration Audit</a:t>
            </a:r>
          </a:p>
          <a:p>
            <a:pPr marL="0" lvl="1" indent="0">
              <a:buFont typeface="Arial" panose="020B0604020202020204" pitchFamily="34" charset="0"/>
              <a:buNone/>
            </a:pPr>
            <a:r>
              <a:t>The script audits secret expiration dates, highlighting expired credentials in red and active ones in green for clarity.</a:t>
            </a:r>
            <a:endParaRPr lang="en-US"/>
          </a:p>
          <a:p>
            <a:pPr marL="0" indent="0">
              <a:spcBef>
                <a:spcPts val="2500"/>
              </a:spcBef>
              <a:buFont typeface="Arial" panose="020B0604020202020204" pitchFamily="34" charset="0"/>
              <a:buNone/>
            </a:pPr>
            <a:r>
              <a:rPr lang="en-US" b="1"/>
              <a:t>Secret Rotation Process</a:t>
            </a:r>
          </a:p>
          <a:p>
            <a:pPr marL="0" lvl="1" indent="0">
              <a:buFont typeface="Arial" panose="020B0604020202020204" pitchFamily="34" charset="0"/>
              <a:buNone/>
            </a:pPr>
            <a:r>
              <a:t>Expired secrets are removed and replaced with new credentials, ensuring continuous security and access management.</a:t>
            </a:r>
            <a:endParaRPr lang="en-US"/>
          </a:p>
          <a:p>
            <a:pPr marL="0" indent="0">
              <a:spcBef>
                <a:spcPts val="2500"/>
              </a:spcBef>
              <a:buFont typeface="Arial" panose="020B0604020202020204" pitchFamily="34" charset="0"/>
              <a:buNone/>
            </a:pPr>
            <a:r>
              <a:rPr lang="en-US" b="1"/>
              <a:t>Secure Storage in Azure Key Vault</a:t>
            </a:r>
          </a:p>
          <a:p>
            <a:pPr marL="0" lvl="1" indent="0">
              <a:buFont typeface="Arial" panose="020B0604020202020204" pitchFamily="34" charset="0"/>
              <a:buNone/>
            </a:pPr>
            <a:r>
              <a:t>New credentials are securely stored in Azure Key Vault, enhancing security and centralized secret management.</a:t>
            </a:r>
            <a:endParaRPr lang="en-US"/>
          </a:p>
          <a:p>
            <a:pPr marL="0" indent="0">
              <a:spcBef>
                <a:spcPts val="2500"/>
              </a:spcBef>
              <a:buFont typeface="Arial" panose="020B0604020202020204" pitchFamily="34" charset="0"/>
              <a:buNone/>
            </a:pPr>
            <a:r>
              <a:rPr lang="en-US" b="1"/>
              <a:t>Automation Validation</a:t>
            </a:r>
          </a:p>
          <a:p>
            <a:pPr marL="0" lvl="1" indent="0">
              <a:buFont typeface="Arial" panose="020B0604020202020204" pitchFamily="34" charset="0"/>
              <a:buNone/>
            </a:pPr>
            <a:r>
              <a:t>Output confirms successful script execution and effective automation, providing visual feedback and validation.</a:t>
            </a:r>
            <a:endParaRPr lang="en-US"/>
          </a:p>
        </p:txBody>
      </p:sp>
      <p:pic>
        <p:nvPicPr>
          <p:cNvPr id="7" name="Picture Placeholder 6" descr="A screenshot of a computer&#10;&#10;AI-generated content may be incorrect.">
            <a:extLst>
              <a:ext uri="{FF2B5EF4-FFF2-40B4-BE49-F238E27FC236}">
                <a16:creationId xmlns:a16="http://schemas.microsoft.com/office/drawing/2014/main" id="{92347A50-16EB-F4E6-CAD7-F352462DC52D}"/>
              </a:ext>
            </a:extLst>
          </p:cNvPr>
          <p:cNvPicPr>
            <a:picLocks noGrp="1" noChangeAspect="1"/>
          </p:cNvPicPr>
          <p:nvPr>
            <p:ph type="pic" sz="quarter" idx="15"/>
          </p:nvPr>
        </p:nvPicPr>
        <p:blipFill>
          <a:blip r:embed="rId3"/>
          <a:srcRect t="10249" b="10249"/>
          <a:stretch/>
        </p:blipFill>
        <p:spPr>
          <a:xfrm>
            <a:off x="399512" y="2423719"/>
            <a:ext cx="5148196" cy="4069080"/>
          </a:xfrm>
          <a:prstGeom prst="rect">
            <a:avLst/>
          </a:prstGeom>
          <a:blipFill>
            <a:blip r:embed="rId4">
              <a:alphaModFix amt="5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4158463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A6B8E-10EE-F071-5FBD-D2B56DDB8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A48FD-6539-8E14-69ED-4BBA37B8B592}"/>
              </a:ext>
            </a:extLst>
          </p:cNvPr>
          <p:cNvSpPr>
            <a:spLocks noGrp="1"/>
          </p:cNvSpPr>
          <p:nvPr>
            <p:ph type="title"/>
          </p:nvPr>
        </p:nvSpPr>
        <p:spPr>
          <a:xfrm>
            <a:off x="612648" y="599599"/>
            <a:ext cx="4672584" cy="1453896"/>
          </a:xfrm>
        </p:spPr>
        <p:txBody>
          <a:bodyPr anchor="t">
            <a:normAutofit/>
          </a:bodyPr>
          <a:lstStyle/>
          <a:p>
            <a:r>
              <a:rPr lang="en-US"/>
              <a:t>Execution Output Screenshot</a:t>
            </a:r>
          </a:p>
        </p:txBody>
      </p:sp>
      <p:sp>
        <p:nvSpPr>
          <p:cNvPr id="4" name="Content Placeholder 3">
            <a:extLst>
              <a:ext uri="{FF2B5EF4-FFF2-40B4-BE49-F238E27FC236}">
                <a16:creationId xmlns:a16="http://schemas.microsoft.com/office/drawing/2014/main" id="{9F035964-9D01-8034-4CD7-A6752B7D2A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Secret Expiration Audit</a:t>
            </a:r>
          </a:p>
          <a:p>
            <a:pPr marL="0" lvl="1" indent="0">
              <a:buFont typeface="Arial" panose="020B0604020202020204" pitchFamily="34" charset="0"/>
              <a:buNone/>
            </a:pPr>
            <a:r>
              <a:t>The script audits secret expiration dates, highlighting expired credentials in red and active ones in green for clarity.</a:t>
            </a:r>
            <a:endParaRPr lang="en-US"/>
          </a:p>
          <a:p>
            <a:pPr marL="0" indent="0">
              <a:spcBef>
                <a:spcPts val="2500"/>
              </a:spcBef>
              <a:buFont typeface="Arial" panose="020B0604020202020204" pitchFamily="34" charset="0"/>
              <a:buNone/>
            </a:pPr>
            <a:r>
              <a:rPr lang="en-US" b="1"/>
              <a:t>Secret Rotation Process</a:t>
            </a:r>
          </a:p>
          <a:p>
            <a:pPr marL="0" lvl="1" indent="0">
              <a:buFont typeface="Arial" panose="020B0604020202020204" pitchFamily="34" charset="0"/>
              <a:buNone/>
            </a:pPr>
            <a:r>
              <a:t>Expired secrets are removed and replaced with new credentials, ensuring continuous security and access management.</a:t>
            </a:r>
            <a:endParaRPr lang="en-US"/>
          </a:p>
          <a:p>
            <a:pPr marL="0" indent="0">
              <a:spcBef>
                <a:spcPts val="2500"/>
              </a:spcBef>
              <a:buFont typeface="Arial" panose="020B0604020202020204" pitchFamily="34" charset="0"/>
              <a:buNone/>
            </a:pPr>
            <a:r>
              <a:rPr lang="en-US" b="1"/>
              <a:t>Secure Storage in Azure Key Vault</a:t>
            </a:r>
          </a:p>
          <a:p>
            <a:pPr marL="0" lvl="1" indent="0">
              <a:buFont typeface="Arial" panose="020B0604020202020204" pitchFamily="34" charset="0"/>
              <a:buNone/>
            </a:pPr>
            <a:r>
              <a:t>New credentials are securely stored in Azure Key Vault, enhancing security and centralized secret management.</a:t>
            </a:r>
            <a:endParaRPr lang="en-US"/>
          </a:p>
          <a:p>
            <a:pPr marL="0" indent="0">
              <a:spcBef>
                <a:spcPts val="2500"/>
              </a:spcBef>
              <a:buFont typeface="Arial" panose="020B0604020202020204" pitchFamily="34" charset="0"/>
              <a:buNone/>
            </a:pPr>
            <a:r>
              <a:rPr lang="en-US" b="1"/>
              <a:t>Automation Validation</a:t>
            </a:r>
          </a:p>
          <a:p>
            <a:pPr marL="0" lvl="1" indent="0">
              <a:buFont typeface="Arial" panose="020B0604020202020204" pitchFamily="34" charset="0"/>
              <a:buNone/>
            </a:pPr>
            <a:r>
              <a:t>Output confirms successful script execution and effective automation, providing visual feedback and validation.</a:t>
            </a:r>
            <a:endParaRPr lang="en-US"/>
          </a:p>
        </p:txBody>
      </p:sp>
      <p:pic>
        <p:nvPicPr>
          <p:cNvPr id="8" name="Picture Placeholder 7" descr="A screenshot of a computer screen&#10;&#10;AI-generated content may be incorrect.">
            <a:extLst>
              <a:ext uri="{FF2B5EF4-FFF2-40B4-BE49-F238E27FC236}">
                <a16:creationId xmlns:a16="http://schemas.microsoft.com/office/drawing/2014/main" id="{8C89CB91-F7AF-4364-BB5B-27E7236CA8E8}"/>
              </a:ext>
            </a:extLst>
          </p:cNvPr>
          <p:cNvPicPr>
            <a:picLocks noGrp="1" noChangeAspect="1"/>
          </p:cNvPicPr>
          <p:nvPr>
            <p:ph type="pic" sz="quarter" idx="15"/>
          </p:nvPr>
        </p:nvPicPr>
        <p:blipFill>
          <a:blip r:embed="rId3"/>
          <a:srcRect l="16253" r="16253"/>
          <a:stretch/>
        </p:blipFill>
        <p:spPr>
          <a:xfrm>
            <a:off x="349324" y="2354421"/>
            <a:ext cx="5175504" cy="4134608"/>
          </a:xfrm>
          <a:prstGeom prst="rect">
            <a:avLst/>
          </a:prstGeom>
          <a:blipFill>
            <a:blip r:embed="rId4">
              <a:alphaModFix amt="5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8262241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F009F-BE34-E9EB-4F31-717D18EBD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A5D84-56BC-B86E-F4A4-196A8E3EFB35}"/>
              </a:ext>
            </a:extLst>
          </p:cNvPr>
          <p:cNvSpPr>
            <a:spLocks noGrp="1"/>
          </p:cNvSpPr>
          <p:nvPr>
            <p:ph type="title"/>
          </p:nvPr>
        </p:nvSpPr>
        <p:spPr>
          <a:xfrm>
            <a:off x="612648" y="599599"/>
            <a:ext cx="4672584" cy="1453896"/>
          </a:xfrm>
        </p:spPr>
        <p:txBody>
          <a:bodyPr anchor="t">
            <a:normAutofit/>
          </a:bodyPr>
          <a:lstStyle/>
          <a:p>
            <a:r>
              <a:rPr lang="en-US"/>
              <a:t>Execution Output Screenshot</a:t>
            </a:r>
          </a:p>
        </p:txBody>
      </p:sp>
      <p:sp>
        <p:nvSpPr>
          <p:cNvPr id="4" name="Content Placeholder 3">
            <a:extLst>
              <a:ext uri="{FF2B5EF4-FFF2-40B4-BE49-F238E27FC236}">
                <a16:creationId xmlns:a16="http://schemas.microsoft.com/office/drawing/2014/main" id="{F3981157-A50D-6BB2-61E1-97243659A9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Secret Expiration Audit</a:t>
            </a:r>
          </a:p>
          <a:p>
            <a:pPr marL="0" lvl="1" indent="0">
              <a:buFont typeface="Arial" panose="020B0604020202020204" pitchFamily="34" charset="0"/>
              <a:buNone/>
            </a:pPr>
            <a:r>
              <a:t>The script audits secret expiration dates, highlighting expired credentials in red and active ones in green for clarity.</a:t>
            </a:r>
            <a:endParaRPr lang="en-US"/>
          </a:p>
          <a:p>
            <a:pPr marL="0" indent="0">
              <a:spcBef>
                <a:spcPts val="2500"/>
              </a:spcBef>
              <a:buFont typeface="Arial" panose="020B0604020202020204" pitchFamily="34" charset="0"/>
              <a:buNone/>
            </a:pPr>
            <a:r>
              <a:rPr lang="en-US" b="1"/>
              <a:t>Secret Rotation Process</a:t>
            </a:r>
          </a:p>
          <a:p>
            <a:pPr marL="0" lvl="1" indent="0">
              <a:buFont typeface="Arial" panose="020B0604020202020204" pitchFamily="34" charset="0"/>
              <a:buNone/>
            </a:pPr>
            <a:r>
              <a:t>Expired secrets are removed and replaced with new credentials, ensuring continuous security and access management.</a:t>
            </a:r>
            <a:endParaRPr lang="en-US"/>
          </a:p>
          <a:p>
            <a:pPr marL="0" indent="0">
              <a:spcBef>
                <a:spcPts val="2500"/>
              </a:spcBef>
              <a:buFont typeface="Arial" panose="020B0604020202020204" pitchFamily="34" charset="0"/>
              <a:buNone/>
            </a:pPr>
            <a:r>
              <a:rPr lang="en-US" b="1"/>
              <a:t>Secure Storage in Azure Key Vault</a:t>
            </a:r>
          </a:p>
          <a:p>
            <a:pPr marL="0" lvl="1" indent="0">
              <a:buFont typeface="Arial" panose="020B0604020202020204" pitchFamily="34" charset="0"/>
              <a:buNone/>
            </a:pPr>
            <a:r>
              <a:t>New credentials are securely stored in Azure Key Vault, enhancing security and centralized secret management.</a:t>
            </a:r>
            <a:endParaRPr lang="en-US"/>
          </a:p>
          <a:p>
            <a:pPr marL="0" indent="0">
              <a:spcBef>
                <a:spcPts val="2500"/>
              </a:spcBef>
              <a:buFont typeface="Arial" panose="020B0604020202020204" pitchFamily="34" charset="0"/>
              <a:buNone/>
            </a:pPr>
            <a:r>
              <a:rPr lang="en-US" b="1"/>
              <a:t>Automation Validation</a:t>
            </a:r>
          </a:p>
          <a:p>
            <a:pPr marL="0" lvl="1" indent="0">
              <a:buFont typeface="Arial" panose="020B0604020202020204" pitchFamily="34" charset="0"/>
              <a:buNone/>
            </a:pPr>
            <a:r>
              <a:t>Output confirms successful script execution and effective automation, providing visual feedback and validation.</a:t>
            </a:r>
            <a:endParaRPr lang="en-US"/>
          </a:p>
        </p:txBody>
      </p:sp>
      <p:pic>
        <p:nvPicPr>
          <p:cNvPr id="6" name="Picture Placeholder 5" descr="A screenshot of a computer&#10;&#10;AI-generated content may be incorrect.">
            <a:extLst>
              <a:ext uri="{FF2B5EF4-FFF2-40B4-BE49-F238E27FC236}">
                <a16:creationId xmlns:a16="http://schemas.microsoft.com/office/drawing/2014/main" id="{B0323A08-F773-F7E0-FDF1-6895B839F03F}"/>
              </a:ext>
            </a:extLst>
          </p:cNvPr>
          <p:cNvPicPr>
            <a:picLocks noGrp="1" noChangeAspect="1"/>
          </p:cNvPicPr>
          <p:nvPr>
            <p:ph type="pic" sz="quarter" idx="15"/>
          </p:nvPr>
        </p:nvPicPr>
        <p:blipFill>
          <a:blip r:embed="rId3"/>
          <a:srcRect l="19203" r="19203"/>
          <a:stretch/>
        </p:blipFill>
        <p:spPr>
          <a:xfrm>
            <a:off x="359350" y="2440680"/>
            <a:ext cx="5175504" cy="4155474"/>
          </a:xfrm>
          <a:prstGeom prst="rect">
            <a:avLst/>
          </a:prstGeom>
          <a:blipFill>
            <a:blip r:embed="rId4">
              <a:alphaModFix amt="50000"/>
              <a:extLst>
                <a:ext uri="{28A0092B-C50C-407E-A947-70E740481C1C}">
                  <a14:useLocalDpi xmlns:a14="http://schemas.microsoft.com/office/drawing/2010/main" val="0"/>
                </a:ext>
              </a:extLst>
            </a:blip>
            <a:stretch>
              <a:fillRect/>
            </a:stretch>
          </a:blipFill>
        </p:spPr>
      </p:pic>
    </p:spTree>
    <p:extLst>
      <p:ext uri="{BB962C8B-B14F-4D97-AF65-F5344CB8AC3E}">
        <p14:creationId xmlns:p14="http://schemas.microsoft.com/office/powerpoint/2010/main" val="4422359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2.xml><?xml version="1.0" encoding="utf-8"?>
<ds:datastoreItem xmlns:ds="http://schemas.openxmlformats.org/officeDocument/2006/customXml" ds:itemID="{52185BFC-6E97-4C88-9034-F2A7ED1C005E}">
  <ds:schemaRefs>
    <ds:schemaRef ds:uri="http://purl.org/dc/terms/"/>
    <ds:schemaRef ds:uri="http://purl.org/dc/elements/1.1/"/>
    <ds:schemaRef ds:uri="http://schemas.microsoft.com/office/2006/documentManagement/types"/>
    <ds:schemaRef ds:uri="http://www.w3.org/XML/1998/namespace"/>
    <ds:schemaRef ds:uri="71af3243-3dd4-4a8d-8c0d-dd76da1f02a5"/>
    <ds:schemaRef ds:uri="230e9df3-be65-4c73-a93b-d1236ebd677e"/>
    <ds:schemaRef ds:uri="16c05727-aa75-4e4a-9b5f-8a80a1165891"/>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purl.org/dc/dcmitype/"/>
  </ds:schemaRefs>
</ds:datastoreItem>
</file>

<file path=customXml/itemProps3.xml><?xml version="1.0" encoding="utf-8"?>
<ds:datastoreItem xmlns:ds="http://schemas.openxmlformats.org/officeDocument/2006/customXml" ds:itemID="{52BAF2CE-2C32-498E-B467-6C60C37679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10086</TotalTime>
  <Words>4</Words>
  <Application>Microsoft Office PowerPoint</Application>
  <PresentationFormat>Widescreen</PresentationFormat>
  <Paragraphs>2</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Classical academia</vt:lpstr>
      <vt:lpstr>Azure App Registration Secret Rotation Script</vt:lpstr>
      <vt:lpstr>Introduction</vt:lpstr>
      <vt:lpstr>Overview of the Script</vt:lpstr>
      <vt:lpstr>Prerequisites</vt:lpstr>
      <vt:lpstr>Required Modules and Permissions</vt:lpstr>
      <vt:lpstr>Environment Setup</vt:lpstr>
      <vt:lpstr>Configuration Parameters</vt:lpstr>
      <vt:lpstr>Script Breakdown</vt:lpstr>
      <vt:lpstr>Functional Components</vt:lpstr>
      <vt:lpstr>Key Features</vt:lpstr>
      <vt:lpstr>Security and Automation Enhancements</vt:lpstr>
      <vt:lpstr>Demo Results</vt:lpstr>
      <vt:lpstr>Execution Output Screenshot</vt:lpstr>
      <vt:lpstr>Execution Output Screenshot</vt:lpstr>
      <vt:lpstr>Execution Output Screenshot</vt:lpstr>
      <vt:lpstr>Execution Output Screenshot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27</cp:revision>
  <dcterms:created xsi:type="dcterms:W3CDTF">2024-06-26T20:20:27Z</dcterms:created>
  <dcterms:modified xsi:type="dcterms:W3CDTF">2025-09-11T16:28:02Z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